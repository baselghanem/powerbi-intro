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baselghanem.github.io/PowerBi-Intro/week1/day1/web/Nova_Company_Profile.html" TargetMode="External"/><Relationship Id="rId2" Type="http://schemas.openxmlformats.org/officeDocument/2006/relationships/hyperlink" Target="https://www.microsoft.com/en-us/power-platform/products/power-bi/downloads" TargetMode="External"/><Relationship Id="rId3" Type="http://schemas.openxmlformats.org/officeDocument/2006/relationships/hyperlink" Target="https://baselghanem.github.io/PowerBi-Intro/week1/day1/downloads/Day01_CONNECT_EVERYTHING.zip" TargetMode="External"/><Relationship Id="rId4" Type="http://schemas.openxmlformats.org/officeDocument/2006/relationships/hyperlink" Target="https://baselghanem.github.io/PowerBi-Intro/week1/day1/web/Branch_Performance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baselghanem.github.io/PowerBi-Intro/week1/day2/downloads/Day02_CLEAN_DATA.zi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baselghanem.github.io/PowerBi-Intro/week1/day3/downloads/Day03_STOP_COPYING_FILES_LEARNER.zi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teams.microsoft.com/meet/384079113607436?p=lgLLd5ReKE51ncdmN8" TargetMode="External"/><Relationship Id="rId2" Type="http://schemas.openxmlformats.org/officeDocument/2006/relationships/hyperlink" Target="https://baselghanem.github.io/PowerBi-Intro/" TargetMode="External"/><Relationship Id="rId3" Type="http://schemas.openxmlformats.org/officeDocument/2006/relationships/hyperlink" Target="https://baselghanem.github.io/PowerBi-Intro/week1/day1/web/Nova_Company_Profile.html" TargetMode="External"/><Relationship Id="rId4" Type="http://schemas.openxmlformats.org/officeDocument/2006/relationships/hyperlink" Target="https://www.microsoft.com/en-us/power-platform/products/power-bi/downloads" TargetMode="External"/><Relationship Id="rId5" Type="http://schemas.openxmlformats.org/officeDocument/2006/relationships/hyperlink" Target="https://baselghanem.github.io/PowerBi-Intro/week1/day1/downloads/Day01_CONNECT_EVERYTHING.zip" TargetMode="External"/><Relationship Id="rId6" Type="http://schemas.openxmlformats.org/officeDocument/2006/relationships/hyperlink" Target="https://baselghanem.github.io/PowerBi-Intro/week1/day1/web/Branch_Performance.html" TargetMode="External"/><Relationship Id="rId7" Type="http://schemas.openxmlformats.org/officeDocument/2006/relationships/hyperlink" Target="https://baselghanem.github.io/PowerBi-Intro/week1/day2/downloads/Day02_CLEAN_DATA.zip" TargetMode="External"/><Relationship Id="rId8" Type="http://schemas.openxmlformats.org/officeDocument/2006/relationships/hyperlink" Target="https://baselghanem.github.io/PowerBi-Intro/week1/day3/downloads/Day03_STOP_COPYING_FILES_LEARNER.zip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baselghanem.github.io/PowerBi-Intro/Trainer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F2C811">
              <a:alpha val="8000"/>
            </a:srgbClr>
          </a:solidFill>
          <a:ln w="12700">
            <a:solidFill>
              <a:srgbClr val="F2C811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78992" y="52120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640" dirty="0"/>
          </a:p>
        </p:txBody>
      </p:sp>
      <p:sp>
        <p:nvSpPr>
          <p:cNvPr id="59" name="Text 57"/>
          <p:cNvSpPr/>
          <p:nvPr/>
        </p:nvSpPr>
        <p:spPr>
          <a:xfrm>
            <a:off x="475488" y="18288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75488" y="2331720"/>
            <a:ext cx="5623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الأسبوع الأول</a:t>
            </a:r>
            <a:endParaRPr lang="en-US" sz="3000" dirty="0"/>
          </a:p>
          <a:p>
            <a:pPr rtl="1" algn="r"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Trainer Playbook</a:t>
            </a:r>
            <a:endParaRPr lang="en-US" sz="3000" dirty="0"/>
          </a:p>
        </p:txBody>
      </p:sp>
      <p:sp>
        <p:nvSpPr>
          <p:cNvPr id="61" name="Text 59"/>
          <p:cNvSpPr/>
          <p:nvPr/>
        </p:nvSpPr>
        <p:spPr>
          <a:xfrm>
            <a:off x="475488" y="4187952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2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3 جلسات. قصة واحدة. من البيانات المبعثرة إلى Pipeline قابلة للتحديث.</a:t>
            </a:r>
            <a:endParaRPr lang="en-US" sz="1220" dirty="0"/>
          </a:p>
        </p:txBody>
      </p:sp>
      <p:sp>
        <p:nvSpPr>
          <p:cNvPr id="62" name="Shape 60"/>
          <p:cNvSpPr/>
          <p:nvPr/>
        </p:nvSpPr>
        <p:spPr>
          <a:xfrm>
            <a:off x="475488" y="5349240"/>
            <a:ext cx="5907024" cy="1965960"/>
          </a:xfrm>
          <a:prstGeom prst="roundRect">
            <a:avLst>
              <a:gd name="adj" fmla="val 6512"/>
            </a:avLst>
          </a:prstGeom>
          <a:solidFill>
            <a:srgbClr val="111317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" y="5705856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 →  CLEAN  →  AUTOMATE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749808" y="6199632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4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20 Sep  •  22 Sep  •  23 Sep 2026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749808" y="6729984"/>
            <a:ext cx="1170432" cy="292608"/>
          </a:xfrm>
          <a:prstGeom prst="roundRect">
            <a:avLst>
              <a:gd name="adj" fmla="val 43750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5528" y="679856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01</a:t>
            </a:r>
            <a:endParaRPr lang="en-US" sz="610" dirty="0"/>
          </a:p>
        </p:txBody>
      </p:sp>
      <p:sp>
        <p:nvSpPr>
          <p:cNvPr id="67" name="Shape 65"/>
          <p:cNvSpPr/>
          <p:nvPr/>
        </p:nvSpPr>
        <p:spPr>
          <a:xfrm>
            <a:off x="2084832" y="6729984"/>
            <a:ext cx="1572768" cy="292608"/>
          </a:xfrm>
          <a:prstGeom prst="roundRect">
            <a:avLst>
              <a:gd name="adj" fmla="val 43750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30552" y="6798564"/>
            <a:ext cx="1481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PORTRAIT DECK</a:t>
            </a:r>
            <a:endParaRPr lang="en-US" sz="610" dirty="0"/>
          </a:p>
        </p:txBody>
      </p:sp>
      <p:sp>
        <p:nvSpPr>
          <p:cNvPr id="69" name="Shape 67"/>
          <p:cNvSpPr/>
          <p:nvPr/>
        </p:nvSpPr>
        <p:spPr>
          <a:xfrm>
            <a:off x="3822192" y="6729984"/>
            <a:ext cx="1463040" cy="292608"/>
          </a:xfrm>
          <a:prstGeom prst="roundRect">
            <a:avLst>
              <a:gd name="adj" fmla="val 43750"/>
            </a:avLst>
          </a:prstGeom>
          <a:solidFill>
            <a:srgbClr val="695CFF"/>
          </a:solidFill>
          <a:ln w="8890">
            <a:solidFill>
              <a:srgbClr val="695C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67912" y="67985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 ONLY</a:t>
            </a:r>
            <a:endParaRPr lang="en-US" sz="610" dirty="0"/>
          </a:p>
        </p:txBody>
      </p:sp>
      <p:sp>
        <p:nvSpPr>
          <p:cNvPr id="71" name="Shape 69"/>
          <p:cNvSpPr/>
          <p:nvPr/>
        </p:nvSpPr>
        <p:spPr>
          <a:xfrm>
            <a:off x="475488" y="7726680"/>
            <a:ext cx="5907024" cy="2148840"/>
          </a:xfrm>
          <a:prstGeom prst="roundRect">
            <a:avLst>
              <a:gd name="adj" fmla="val 5957"/>
            </a:avLst>
          </a:prstGeom>
          <a:solidFill>
            <a:srgbClr val="15181D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9808" y="8028432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F2C81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هدف الملف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49808" y="8458200"/>
            <a:ext cx="5376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4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تفتحه قبل كل جلسة وتعرف فوراً: ماذا تجهّز، ماذا تعرض، ماذا توزّع، ماذا يطبق المتدرب، وما هو الـDeliverable النهائي.</a:t>
            </a:r>
            <a:endParaRPr lang="en-US" sz="1040" dirty="0"/>
          </a:p>
        </p:txBody>
      </p:sp>
      <p:sp>
        <p:nvSpPr>
          <p:cNvPr id="74" name="Text 72"/>
          <p:cNvSpPr/>
          <p:nvPr/>
        </p:nvSpPr>
        <p:spPr>
          <a:xfrm>
            <a:off x="475488" y="11384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 Ghanem  •  Power BI &amp; Data Analytics Trainer</a:t>
            </a:r>
            <a:endParaRPr lang="en-US" sz="640" dirty="0"/>
          </a:p>
        </p:txBody>
      </p:sp>
      <p:sp>
        <p:nvSpPr>
          <p:cNvPr id="75" name="Text 73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76" name="Text 74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F2C811">
              <a:alpha val="8000"/>
            </a:srgbClr>
          </a:solidFill>
          <a:ln w="12700">
            <a:solidFill>
              <a:srgbClr val="F2C811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01 • TRAINER PLAYBOOK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01 • ONE BUSINESS UNIVERSE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الأسبوع الأول في صفحة واحدة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نفس Nova case يكبر معنا كل جلسة: نوصل الأدلة، ننظفها، ثم نحولها إلى Automation قابلة للـRefresh.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841248" y="3291840"/>
            <a:ext cx="4434840" cy="0"/>
          </a:xfrm>
          <a:prstGeom prst="line">
            <a:avLst/>
          </a:prstGeom>
          <a:noFill/>
          <a:ln w="15240">
            <a:solidFill>
              <a:srgbClr val="2A2D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368" y="3127248"/>
            <a:ext cx="329184" cy="329184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3776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219456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وصّل كل شيء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514600" y="3127248"/>
            <a:ext cx="329184" cy="329184"/>
          </a:xfrm>
          <a:prstGeom prst="ellipse">
            <a:avLst/>
          </a:prstGeom>
          <a:solidFill>
            <a:srgbClr val="242831"/>
          </a:solidFill>
          <a:ln w="12700">
            <a:solidFill>
              <a:srgbClr val="24283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50008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620" dirty="0"/>
          </a:p>
        </p:txBody>
      </p:sp>
      <p:sp>
        <p:nvSpPr>
          <p:cNvPr id="73" name="Text 71"/>
          <p:cNvSpPr/>
          <p:nvPr/>
        </p:nvSpPr>
        <p:spPr>
          <a:xfrm>
            <a:off x="2075688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نظّف البيانات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370832" y="3127248"/>
            <a:ext cx="329184" cy="329184"/>
          </a:xfrm>
          <a:prstGeom prst="ellipse">
            <a:avLst/>
          </a:prstGeom>
          <a:solidFill>
            <a:srgbClr val="242831"/>
          </a:solidFill>
          <a:ln w="12700">
            <a:solidFill>
              <a:srgbClr val="24283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6240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620" dirty="0"/>
          </a:p>
        </p:txBody>
      </p:sp>
      <p:sp>
        <p:nvSpPr>
          <p:cNvPr id="76" name="Text 74"/>
          <p:cNvSpPr/>
          <p:nvPr/>
        </p:nvSpPr>
        <p:spPr>
          <a:xfrm>
            <a:off x="3931920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أوقف Copy/Paste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75488" y="4343400"/>
            <a:ext cx="5907024" cy="1481328"/>
          </a:xfrm>
          <a:prstGeom prst="roundRect">
            <a:avLst>
              <a:gd name="adj" fmla="val 8642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3232" y="4572000"/>
            <a:ext cx="841248" cy="292608"/>
          </a:xfrm>
          <a:prstGeom prst="roundRect">
            <a:avLst>
              <a:gd name="adj" fmla="val 43750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8952" y="4640580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610" dirty="0"/>
          </a:p>
        </p:txBody>
      </p:sp>
      <p:sp>
        <p:nvSpPr>
          <p:cNvPr id="80" name="Text 78"/>
          <p:cNvSpPr/>
          <p:nvPr/>
        </p:nvSpPr>
        <p:spPr>
          <a:xfrm>
            <a:off x="1737360" y="46085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 • 20 SEP</a:t>
            </a:r>
            <a:endParaRPr lang="en-US" sz="610" dirty="0"/>
          </a:p>
        </p:txBody>
      </p:sp>
      <p:sp>
        <p:nvSpPr>
          <p:cNvPr id="81" name="Text 79"/>
          <p:cNvSpPr/>
          <p:nvPr/>
        </p:nvSpPr>
        <p:spPr>
          <a:xfrm>
            <a:off x="713232" y="501091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EVERYTHING</a:t>
            </a:r>
            <a:endParaRPr lang="en-US" sz="840" dirty="0"/>
          </a:p>
        </p:txBody>
      </p:sp>
      <p:sp>
        <p:nvSpPr>
          <p:cNvPr id="82" name="Text 80"/>
          <p:cNvSpPr/>
          <p:nvPr/>
        </p:nvSpPr>
        <p:spPr>
          <a:xfrm>
            <a:off x="713232" y="53035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Nova Profile + Power BI install + Excel / CSV / TXT / PDF / Web + ETL + أول Visuals.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75488" y="6144768"/>
            <a:ext cx="5907024" cy="1481328"/>
          </a:xfrm>
          <a:prstGeom prst="roundRect">
            <a:avLst>
              <a:gd name="adj" fmla="val 8642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13232" y="6373368"/>
            <a:ext cx="841248" cy="292608"/>
          </a:xfrm>
          <a:prstGeom prst="roundRect">
            <a:avLst>
              <a:gd name="adj" fmla="val 43750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8952" y="644194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</a:t>
            </a:r>
            <a:endParaRPr lang="en-US" sz="610" dirty="0"/>
          </a:p>
        </p:txBody>
      </p:sp>
      <p:sp>
        <p:nvSpPr>
          <p:cNvPr id="86" name="Text 84"/>
          <p:cNvSpPr/>
          <p:nvPr/>
        </p:nvSpPr>
        <p:spPr>
          <a:xfrm>
            <a:off x="1737360" y="64099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 • 22 SEP</a:t>
            </a:r>
            <a:endParaRPr lang="en-US" sz="610" dirty="0"/>
          </a:p>
        </p:txBody>
      </p:sp>
      <p:sp>
        <p:nvSpPr>
          <p:cNvPr id="87" name="Text 85"/>
          <p:cNvSpPr/>
          <p:nvPr/>
        </p:nvSpPr>
        <p:spPr>
          <a:xfrm>
            <a:off x="713232" y="681228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DATA LIKE AN ANALYST</a:t>
            </a:r>
            <a:endParaRPr lang="en-US" sz="840" dirty="0"/>
          </a:p>
        </p:txBody>
      </p:sp>
      <p:sp>
        <p:nvSpPr>
          <p:cNvPr id="88" name="Text 86"/>
          <p:cNvSpPr/>
          <p:nvPr/>
        </p:nvSpPr>
        <p:spPr>
          <a:xfrm>
            <a:off x="713232" y="710488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Power Query: Types, Trim/Clean, Standardize, Nulls, Errors, Duplicates, Applied Steps.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75488" y="7946136"/>
            <a:ext cx="5907024" cy="1481328"/>
          </a:xfrm>
          <a:prstGeom prst="roundRect">
            <a:avLst>
              <a:gd name="adj" fmla="val 8642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13232" y="8174736"/>
            <a:ext cx="841248" cy="292608"/>
          </a:xfrm>
          <a:prstGeom prst="roundRect">
            <a:avLst>
              <a:gd name="adj" fmla="val 43750"/>
            </a:avLst>
          </a:prstGeom>
          <a:solidFill>
            <a:srgbClr val="695CFF"/>
          </a:solidFill>
          <a:ln w="8890">
            <a:solidFill>
              <a:srgbClr val="695C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58952" y="824331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</a:t>
            </a:r>
            <a:endParaRPr lang="en-US" sz="610" dirty="0"/>
          </a:p>
        </p:txBody>
      </p:sp>
      <p:sp>
        <p:nvSpPr>
          <p:cNvPr id="92" name="Text 90"/>
          <p:cNvSpPr/>
          <p:nvPr/>
        </p:nvSpPr>
        <p:spPr>
          <a:xfrm>
            <a:off x="1737360" y="82113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 • 23 SEP</a:t>
            </a:r>
            <a:endParaRPr lang="en-US" sz="610" dirty="0"/>
          </a:p>
        </p:txBody>
      </p:sp>
      <p:sp>
        <p:nvSpPr>
          <p:cNvPr id="93" name="Text 91"/>
          <p:cNvSpPr/>
          <p:nvPr/>
        </p:nvSpPr>
        <p:spPr>
          <a:xfrm>
            <a:off x="713232" y="861364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COPYING FILES</a:t>
            </a:r>
            <a:endParaRPr lang="en-US" sz="840" dirty="0"/>
          </a:p>
        </p:txBody>
      </p:sp>
      <p:sp>
        <p:nvSpPr>
          <p:cNvPr id="94" name="Text 92"/>
          <p:cNvSpPr/>
          <p:nvPr/>
        </p:nvSpPr>
        <p:spPr>
          <a:xfrm>
            <a:off x="713232" y="890625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Folder Connector + Combine + Merge Masters + April refresh proof.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75488" y="9985248"/>
            <a:ext cx="5907024" cy="987552"/>
          </a:xfrm>
          <a:prstGeom prst="roundRect">
            <a:avLst>
              <a:gd name="adj" fmla="val 12963"/>
            </a:avLst>
          </a:prstGeom>
          <a:solidFill>
            <a:srgbClr val="14181A"/>
          </a:solidFill>
          <a:ln w="8890">
            <a:solidFill>
              <a:srgbClr val="24525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3232" y="1023213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40" b="1" dirty="0">
                <a:solidFill>
                  <a:srgbClr val="BDE7E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مبدأك هذا الأسبوع: لا تشرح Feature ثم تبحث عن مثال. ابدأ بالمشكلة، ثم استخدم الـFeature كحل.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F2C811">
              <a:alpha val="8000"/>
            </a:srgbClr>
          </a:solidFill>
          <a:ln w="12700">
            <a:solidFill>
              <a:srgbClr val="F2C811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 • CONNECT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 • 20 SEP 2026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قبل أن يدخل المتدرب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جهّز كل شيء قبل بداية الجلسة. هذه الصفحة هي الـpre-flight checklist.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841248" y="3291840"/>
            <a:ext cx="4434840" cy="0"/>
          </a:xfrm>
          <a:prstGeom prst="line">
            <a:avLst/>
          </a:prstGeom>
          <a:noFill/>
          <a:ln w="15240">
            <a:solidFill>
              <a:srgbClr val="2A2D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368" y="3127248"/>
            <a:ext cx="329184" cy="329184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3776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219456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وصّل كل شيء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514600" y="3127248"/>
            <a:ext cx="329184" cy="329184"/>
          </a:xfrm>
          <a:prstGeom prst="ellipse">
            <a:avLst/>
          </a:prstGeom>
          <a:solidFill>
            <a:srgbClr val="242831"/>
          </a:solidFill>
          <a:ln w="12700">
            <a:solidFill>
              <a:srgbClr val="24283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50008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620" dirty="0"/>
          </a:p>
        </p:txBody>
      </p:sp>
      <p:sp>
        <p:nvSpPr>
          <p:cNvPr id="73" name="Text 71"/>
          <p:cNvSpPr/>
          <p:nvPr/>
        </p:nvSpPr>
        <p:spPr>
          <a:xfrm>
            <a:off x="2075688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نظّف البيانات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370832" y="3127248"/>
            <a:ext cx="329184" cy="329184"/>
          </a:xfrm>
          <a:prstGeom prst="ellipse">
            <a:avLst/>
          </a:prstGeom>
          <a:solidFill>
            <a:srgbClr val="242831"/>
          </a:solidFill>
          <a:ln w="12700">
            <a:solidFill>
              <a:srgbClr val="24283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6240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620" dirty="0"/>
          </a:p>
        </p:txBody>
      </p:sp>
      <p:sp>
        <p:nvSpPr>
          <p:cNvPr id="76" name="Text 74"/>
          <p:cNvSpPr/>
          <p:nvPr/>
        </p:nvSpPr>
        <p:spPr>
          <a:xfrm>
            <a:off x="3931920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أوقف Copy/Paste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75488" y="4315968"/>
            <a:ext cx="5907024" cy="3127248"/>
          </a:xfrm>
          <a:prstGeom prst="roundRect">
            <a:avLst>
              <a:gd name="adj" fmla="val 4094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3232" y="455371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F2C81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CHECKLIST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31520" y="4965192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1520" y="503377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1143000" y="49697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افتح Teams قبل الموعد وتأكد من مشاركة الشاشة والصوت.</a:t>
            </a:r>
            <a:endParaRPr lang="en-US" sz="810" dirty="0"/>
          </a:p>
        </p:txBody>
      </p:sp>
      <p:sp>
        <p:nvSpPr>
          <p:cNvPr id="82" name="Shape 80"/>
          <p:cNvSpPr/>
          <p:nvPr/>
        </p:nvSpPr>
        <p:spPr>
          <a:xfrm>
            <a:off x="731520" y="5358384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" y="542696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143000" y="536295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افتح Meet Nova — Company Profile كأول شاشة بعد المقدمة.</a:t>
            </a:r>
            <a:endParaRPr lang="en-US" sz="810" dirty="0"/>
          </a:p>
        </p:txBody>
      </p:sp>
      <p:sp>
        <p:nvSpPr>
          <p:cNvPr id="85" name="Shape 83"/>
          <p:cNvSpPr/>
          <p:nvPr/>
        </p:nvSpPr>
        <p:spPr>
          <a:xfrm>
            <a:off x="731520" y="5751576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1520" y="582015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1143000" y="57561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جهّز رابط تنزيل Power BI Desktop لمن لم يثبته مسبقاً.</a:t>
            </a:r>
            <a:endParaRPr lang="en-US" sz="810" dirty="0"/>
          </a:p>
        </p:txBody>
      </p:sp>
      <p:sp>
        <p:nvSpPr>
          <p:cNvPr id="88" name="Shape 86"/>
          <p:cNvSpPr/>
          <p:nvPr/>
        </p:nvSpPr>
        <p:spPr>
          <a:xfrm>
            <a:off x="731520" y="6144768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0" y="62133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1143000" y="614934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تأكد من تحميل Day 01 — Nova Source Pack وفك الضغط في Folder واضح.</a:t>
            </a:r>
            <a:endParaRPr lang="en-US" sz="810" dirty="0"/>
          </a:p>
        </p:txBody>
      </p:sp>
      <p:sp>
        <p:nvSpPr>
          <p:cNvPr id="91" name="Shape 89"/>
          <p:cNvSpPr/>
          <p:nvPr/>
        </p:nvSpPr>
        <p:spPr>
          <a:xfrm>
            <a:off x="731520" y="6537960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" y="660654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1143000" y="65425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افتح Branch Performance Web Source في Tab مستقل لاستخدامه في Get Data &gt; Web.</a:t>
            </a:r>
            <a:endParaRPr lang="en-US" sz="810" dirty="0"/>
          </a:p>
        </p:txBody>
      </p:sp>
      <p:sp>
        <p:nvSpPr>
          <p:cNvPr id="94" name="Shape 92"/>
          <p:cNvSpPr/>
          <p:nvPr/>
        </p:nvSpPr>
        <p:spPr>
          <a:xfrm>
            <a:off x="731520" y="6931152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1520" y="69997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1143000" y="693572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جهّز Folder حفظ باسم Nova_Business_Performance_360_[Name].pbix.</a:t>
            </a:r>
            <a:endParaRPr lang="en-US" sz="810" dirty="0"/>
          </a:p>
        </p:txBody>
      </p:sp>
      <p:sp>
        <p:nvSpPr>
          <p:cNvPr id="97" name="Shape 95"/>
          <p:cNvSpPr/>
          <p:nvPr/>
        </p:nvSpPr>
        <p:spPr>
          <a:xfrm>
            <a:off x="475488" y="7699248"/>
            <a:ext cx="5907024" cy="2103120"/>
          </a:xfrm>
          <a:prstGeom prst="roundRect">
            <a:avLst>
              <a:gd name="adj" fmla="val 6087"/>
            </a:avLst>
          </a:prstGeom>
          <a:solidFill>
            <a:srgbClr val="12161A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13232" y="79735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أعطهم في أول 15 دقيقة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13232" y="8458200"/>
            <a:ext cx="1417320" cy="438912"/>
          </a:xfrm>
          <a:prstGeom prst="roundRect">
            <a:avLst>
              <a:gd name="adj" fmla="val 29167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04672" y="85862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PROFILE</a:t>
            </a:r>
            <a:endParaRPr lang="en-US" sz="700" dirty="0"/>
          </a:p>
        </p:txBody>
      </p:sp>
      <p:sp>
        <p:nvSpPr>
          <p:cNvPr id="101" name="Shape 99">
            <a:hlinkClick r:id="rId1" tooltip=""/>
          </p:cNvPr>
          <p:cNvSpPr/>
          <p:nvPr/>
        </p:nvSpPr>
        <p:spPr>
          <a:xfrm>
            <a:off x="713232" y="8458200"/>
            <a:ext cx="141732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286000" y="8458200"/>
            <a:ext cx="1207008" cy="438912"/>
          </a:xfrm>
          <a:prstGeom prst="roundRect">
            <a:avLst>
              <a:gd name="adj" fmla="val 29167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377440" y="858621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700" dirty="0"/>
          </a:p>
        </p:txBody>
      </p:sp>
      <p:sp>
        <p:nvSpPr>
          <p:cNvPr id="104" name="Shape 102">
            <a:hlinkClick r:id="rId2" tooltip=""/>
          </p:cNvPr>
          <p:cNvSpPr/>
          <p:nvPr/>
        </p:nvSpPr>
        <p:spPr>
          <a:xfrm>
            <a:off x="2286000" y="8458200"/>
            <a:ext cx="1207008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57600" y="8458200"/>
            <a:ext cx="1353312" cy="438912"/>
          </a:xfrm>
          <a:prstGeom prst="roundRect">
            <a:avLst>
              <a:gd name="adj" fmla="val 29167"/>
            </a:avLst>
          </a:prstGeom>
          <a:solidFill>
            <a:srgbClr val="695CFF"/>
          </a:solidFill>
          <a:ln w="8890">
            <a:solidFill>
              <a:srgbClr val="695C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749040" y="858621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PACK</a:t>
            </a:r>
            <a:endParaRPr lang="en-US" sz="700" dirty="0"/>
          </a:p>
        </p:txBody>
      </p:sp>
      <p:sp>
        <p:nvSpPr>
          <p:cNvPr id="107" name="Shape 105">
            <a:hlinkClick r:id="rId3" tooltip=""/>
          </p:cNvPr>
          <p:cNvSpPr/>
          <p:nvPr/>
        </p:nvSpPr>
        <p:spPr>
          <a:xfrm>
            <a:off x="3657600" y="8458200"/>
            <a:ext cx="1353312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166360" y="8458200"/>
            <a:ext cx="969264" cy="438912"/>
          </a:xfrm>
          <a:prstGeom prst="roundRect">
            <a:avLst>
              <a:gd name="adj" fmla="val 29167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257800" y="858621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SOURCE</a:t>
            </a:r>
            <a:endParaRPr lang="en-US" sz="700" dirty="0"/>
          </a:p>
        </p:txBody>
      </p:sp>
      <p:sp>
        <p:nvSpPr>
          <p:cNvPr id="110" name="Shape 108">
            <a:hlinkClick r:id="rId4" tooltip=""/>
          </p:cNvPr>
          <p:cNvSpPr/>
          <p:nvPr/>
        </p:nvSpPr>
        <p:spPr>
          <a:xfrm>
            <a:off x="5166360" y="8458200"/>
            <a:ext cx="969264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13232" y="9125712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2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لا تبدأ بالواجهة. ابدأ بالقصة والمشكلة الإدارية، بعدها البيانات، وبعدها فقط اشرح أين نجد الأدوات.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F2C811">
              <a:alpha val="8000"/>
            </a:srgbClr>
          </a:solidFill>
          <a:ln w="12700">
            <a:solidFill>
              <a:srgbClr val="F2C811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 • CONNECT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120-MIN FLOW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Run of Show — Day 01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تقسيم مقترح لجلسة ساعتين. عدّل الدقائق حسب سرعة المجموعة، لكن لا تغيّر ترتيب القصة.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475488" y="3246120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8368" y="34655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00–10</a:t>
            </a:r>
            <a:endParaRPr lang="en-US" sz="920" dirty="0"/>
          </a:p>
        </p:txBody>
      </p:sp>
      <p:sp>
        <p:nvSpPr>
          <p:cNvPr id="69" name="Text 67"/>
          <p:cNvSpPr/>
          <p:nvPr/>
        </p:nvSpPr>
        <p:spPr>
          <a:xfrm>
            <a:off x="1417320" y="34015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</a:t>
            </a:r>
            <a:endParaRPr lang="en-US" sz="630" dirty="0"/>
          </a:p>
        </p:txBody>
      </p:sp>
      <p:sp>
        <p:nvSpPr>
          <p:cNvPr id="70" name="Text 68"/>
          <p:cNvSpPr/>
          <p:nvPr/>
        </p:nvSpPr>
        <p:spPr>
          <a:xfrm>
            <a:off x="2743200" y="33741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الهدف، طريقة الدورة، Nova project، ماذا سنبني خلال 10 أيام.</a:t>
            </a:r>
            <a:endParaRPr lang="en-US" sz="725" dirty="0"/>
          </a:p>
        </p:txBody>
      </p:sp>
      <p:sp>
        <p:nvSpPr>
          <p:cNvPr id="71" name="Shape 69"/>
          <p:cNvSpPr/>
          <p:nvPr/>
        </p:nvSpPr>
        <p:spPr>
          <a:xfrm>
            <a:off x="475488" y="4178808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8368" y="43982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10–25</a:t>
            </a:r>
            <a:endParaRPr lang="en-US" sz="920" dirty="0"/>
          </a:p>
        </p:txBody>
      </p:sp>
      <p:sp>
        <p:nvSpPr>
          <p:cNvPr id="73" name="Text 71"/>
          <p:cNvSpPr/>
          <p:nvPr/>
        </p:nvSpPr>
        <p:spPr>
          <a:xfrm>
            <a:off x="1417320" y="433425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NOVA</a:t>
            </a:r>
            <a:endParaRPr lang="en-US" sz="630" dirty="0"/>
          </a:p>
        </p:txBody>
      </p:sp>
      <p:sp>
        <p:nvSpPr>
          <p:cNvPr id="74" name="Text 72"/>
          <p:cNvSpPr/>
          <p:nvPr/>
        </p:nvSpPr>
        <p:spPr>
          <a:xfrm>
            <a:off x="2743200" y="430682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Company Profile: المنتجات، الفروع، Sales / Finance / Workforce challenge.</a:t>
            </a:r>
            <a:endParaRPr lang="en-US" sz="725" dirty="0"/>
          </a:p>
        </p:txBody>
      </p:sp>
      <p:sp>
        <p:nvSpPr>
          <p:cNvPr id="75" name="Shape 73"/>
          <p:cNvSpPr/>
          <p:nvPr/>
        </p:nvSpPr>
        <p:spPr>
          <a:xfrm>
            <a:off x="475488" y="5111496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" y="5330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25–40</a:t>
            </a:r>
            <a:endParaRPr lang="en-US" sz="920" dirty="0"/>
          </a:p>
        </p:txBody>
      </p:sp>
      <p:sp>
        <p:nvSpPr>
          <p:cNvPr id="77" name="Text 75"/>
          <p:cNvSpPr/>
          <p:nvPr/>
        </p:nvSpPr>
        <p:spPr>
          <a:xfrm>
            <a:off x="1417320" y="526694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630" dirty="0"/>
          </a:p>
        </p:txBody>
      </p:sp>
      <p:sp>
        <p:nvSpPr>
          <p:cNvPr id="78" name="Text 76"/>
          <p:cNvSpPr/>
          <p:nvPr/>
        </p:nvSpPr>
        <p:spPr>
          <a:xfrm>
            <a:off x="2743200" y="523951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Power BI Desktop install / launch + أين سنحفظ المشروع.</a:t>
            </a:r>
            <a:endParaRPr lang="en-US" sz="725" dirty="0"/>
          </a:p>
        </p:txBody>
      </p:sp>
      <p:sp>
        <p:nvSpPr>
          <p:cNvPr id="79" name="Shape 77"/>
          <p:cNvSpPr/>
          <p:nvPr/>
        </p:nvSpPr>
        <p:spPr>
          <a:xfrm>
            <a:off x="475488" y="6044184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8368" y="62636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40–70</a:t>
            </a:r>
            <a:endParaRPr lang="en-US" sz="920" dirty="0"/>
          </a:p>
        </p:txBody>
      </p:sp>
      <p:sp>
        <p:nvSpPr>
          <p:cNvPr id="81" name="Text 79"/>
          <p:cNvSpPr/>
          <p:nvPr/>
        </p:nvSpPr>
        <p:spPr>
          <a:xfrm>
            <a:off x="1417320" y="61996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DATA</a:t>
            </a:r>
            <a:endParaRPr lang="en-US" sz="630" dirty="0"/>
          </a:p>
        </p:txBody>
      </p:sp>
      <p:sp>
        <p:nvSpPr>
          <p:cNvPr id="82" name="Text 80"/>
          <p:cNvSpPr/>
          <p:nvPr/>
        </p:nvSpPr>
        <p:spPr>
          <a:xfrm>
            <a:off x="2743200" y="61722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Excel → CSV → TXT → PDF → Web. لا تعمل Transform عميق اليوم.</a:t>
            </a:r>
            <a:endParaRPr lang="en-US" sz="725" dirty="0"/>
          </a:p>
        </p:txBody>
      </p:sp>
      <p:sp>
        <p:nvSpPr>
          <p:cNvPr id="83" name="Shape 81"/>
          <p:cNvSpPr/>
          <p:nvPr/>
        </p:nvSpPr>
        <p:spPr>
          <a:xfrm>
            <a:off x="475488" y="6976872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8368" y="71963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70–85</a:t>
            </a:r>
            <a:endParaRPr lang="en-US" sz="920" dirty="0"/>
          </a:p>
        </p:txBody>
      </p:sp>
      <p:sp>
        <p:nvSpPr>
          <p:cNvPr id="85" name="Text 83"/>
          <p:cNvSpPr/>
          <p:nvPr/>
        </p:nvSpPr>
        <p:spPr>
          <a:xfrm>
            <a:off x="1417320" y="71323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ETL</a:t>
            </a:r>
            <a:endParaRPr lang="en-US" sz="630" dirty="0"/>
          </a:p>
        </p:txBody>
      </p:sp>
      <p:sp>
        <p:nvSpPr>
          <p:cNvPr id="86" name="Text 84"/>
          <p:cNvSpPr/>
          <p:nvPr/>
        </p:nvSpPr>
        <p:spPr>
          <a:xfrm>
            <a:off x="2743200" y="71048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Explain Extract → Transform → Load على نفس الملفات التي فتحناها.</a:t>
            </a:r>
            <a:endParaRPr lang="en-US" sz="725" dirty="0"/>
          </a:p>
        </p:txBody>
      </p:sp>
      <p:sp>
        <p:nvSpPr>
          <p:cNvPr id="87" name="Shape 85"/>
          <p:cNvSpPr/>
          <p:nvPr/>
        </p:nvSpPr>
        <p:spPr>
          <a:xfrm>
            <a:off x="475488" y="7909560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8368" y="81290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85–100</a:t>
            </a:r>
            <a:endParaRPr lang="en-US" sz="920" dirty="0"/>
          </a:p>
        </p:txBody>
      </p:sp>
      <p:sp>
        <p:nvSpPr>
          <p:cNvPr id="89" name="Text 87"/>
          <p:cNvSpPr/>
          <p:nvPr/>
        </p:nvSpPr>
        <p:spPr>
          <a:xfrm>
            <a:off x="1417320" y="806500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</a:t>
            </a:r>
            <a:endParaRPr lang="en-US" sz="630" dirty="0"/>
          </a:p>
        </p:txBody>
      </p:sp>
      <p:sp>
        <p:nvSpPr>
          <p:cNvPr id="90" name="Text 88"/>
          <p:cNvSpPr/>
          <p:nvPr/>
        </p:nvSpPr>
        <p:spPr>
          <a:xfrm>
            <a:off x="2743200" y="80375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Report / Data / Model views بعد أن صار عندهم Context حقيقي.</a:t>
            </a:r>
            <a:endParaRPr lang="en-US" sz="725" dirty="0"/>
          </a:p>
        </p:txBody>
      </p:sp>
      <p:sp>
        <p:nvSpPr>
          <p:cNvPr id="91" name="Shape 89"/>
          <p:cNvSpPr/>
          <p:nvPr/>
        </p:nvSpPr>
        <p:spPr>
          <a:xfrm>
            <a:off x="475488" y="8842248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8368" y="90617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100–115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1417320" y="899769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VISUALS</a:t>
            </a:r>
            <a:endParaRPr lang="en-US" sz="630" dirty="0"/>
          </a:p>
        </p:txBody>
      </p:sp>
      <p:sp>
        <p:nvSpPr>
          <p:cNvPr id="94" name="Text 92"/>
          <p:cNvSpPr/>
          <p:nvPr/>
        </p:nvSpPr>
        <p:spPr>
          <a:xfrm>
            <a:off x="2743200" y="89702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Total Revenue Card + Revenue vs Target by Region + Channel Slicer.</a:t>
            </a:r>
            <a:endParaRPr lang="en-US" sz="725" dirty="0"/>
          </a:p>
        </p:txBody>
      </p:sp>
      <p:sp>
        <p:nvSpPr>
          <p:cNvPr id="95" name="Shape 93"/>
          <p:cNvSpPr/>
          <p:nvPr/>
        </p:nvSpPr>
        <p:spPr>
          <a:xfrm>
            <a:off x="475488" y="9774936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8368" y="99943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115–120</a:t>
            </a:r>
            <a:endParaRPr lang="en-US" sz="920" dirty="0"/>
          </a:p>
        </p:txBody>
      </p:sp>
      <p:sp>
        <p:nvSpPr>
          <p:cNvPr id="97" name="Text 95"/>
          <p:cNvSpPr/>
          <p:nvPr/>
        </p:nvSpPr>
        <p:spPr>
          <a:xfrm>
            <a:off x="1417320" y="993038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630" dirty="0"/>
          </a:p>
        </p:txBody>
      </p:sp>
      <p:sp>
        <p:nvSpPr>
          <p:cNvPr id="98" name="Text 96"/>
          <p:cNvSpPr/>
          <p:nvPr/>
        </p:nvSpPr>
        <p:spPr>
          <a:xfrm>
            <a:off x="2743200" y="99029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السؤال الإداري + Save PBIX + Deliverable check.</a:t>
            </a:r>
            <a:endParaRPr lang="en-US" sz="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F2C811">
              <a:alpha val="8000"/>
            </a:srgbClr>
          </a:solidFill>
          <a:ln w="12700">
            <a:solidFill>
              <a:srgbClr val="F2C811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 • CONNECT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GIVE • WHAT THEY DO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ماذا توزّع؟ ماذا يطبقون؟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الهدف أن يخرج المتدرب بملف عمل حقيقي، وليس مجرد مشاهدة Demo.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475488" y="3154680"/>
            <a:ext cx="5907024" cy="2240280"/>
          </a:xfrm>
          <a:prstGeom prst="roundRect">
            <a:avLst>
              <a:gd name="adj" fmla="val 5714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3232" y="3401568"/>
            <a:ext cx="786384" cy="292608"/>
          </a:xfrm>
          <a:prstGeom prst="roundRect">
            <a:avLst>
              <a:gd name="adj" fmla="val 43750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8952" y="3470148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</a:t>
            </a:r>
            <a:endParaRPr lang="en-US" sz="610" dirty="0"/>
          </a:p>
        </p:txBody>
      </p:sp>
      <p:sp>
        <p:nvSpPr>
          <p:cNvPr id="70" name="Shape 68"/>
          <p:cNvSpPr/>
          <p:nvPr/>
        </p:nvSpPr>
        <p:spPr>
          <a:xfrm>
            <a:off x="731520" y="3886200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39547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143000" y="3890772"/>
            <a:ext cx="4873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Meet Nova — Company Profile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731520" y="4270248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1520" y="433882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1143000" y="4274820"/>
            <a:ext cx="4873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Day01_CONNECT_EVERYTHING.zip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731520" y="4654296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" y="472287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1143000" y="4658868"/>
            <a:ext cx="4873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Branch Performance Web Source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731520" y="5038344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1520" y="510692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1143000" y="5042916"/>
            <a:ext cx="4873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Power BI Desktop download link</a:t>
            </a:r>
            <a:endParaRPr lang="en-US" sz="820" dirty="0"/>
          </a:p>
        </p:txBody>
      </p:sp>
      <p:sp>
        <p:nvSpPr>
          <p:cNvPr id="82" name="Shape 80"/>
          <p:cNvSpPr/>
          <p:nvPr/>
        </p:nvSpPr>
        <p:spPr>
          <a:xfrm>
            <a:off x="475488" y="5605272"/>
            <a:ext cx="5907024" cy="2514600"/>
          </a:xfrm>
          <a:prstGeom prst="roundRect">
            <a:avLst>
              <a:gd name="adj" fmla="val 5091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3232" y="5852160"/>
            <a:ext cx="658368" cy="292608"/>
          </a:xfrm>
          <a:prstGeom prst="roundRect">
            <a:avLst>
              <a:gd name="adj" fmla="val 43750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8952" y="5920740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610" dirty="0"/>
          </a:p>
        </p:txBody>
      </p:sp>
      <p:sp>
        <p:nvSpPr>
          <p:cNvPr id="85" name="Shape 83"/>
          <p:cNvSpPr/>
          <p:nvPr/>
        </p:nvSpPr>
        <p:spPr>
          <a:xfrm>
            <a:off x="731520" y="6336792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1520" y="640537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1143000" y="6341364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Connect Excel / CSV / TXT / PDF / Web sources.</a:t>
            </a:r>
            <a:endParaRPr lang="en-US" sz="810" dirty="0"/>
          </a:p>
        </p:txBody>
      </p:sp>
      <p:sp>
        <p:nvSpPr>
          <p:cNvPr id="88" name="Shape 86"/>
          <p:cNvSpPr/>
          <p:nvPr/>
        </p:nvSpPr>
        <p:spPr>
          <a:xfrm>
            <a:off x="731520" y="6766560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0" y="683514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1143000" y="6771132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Explain ETL using what they just connected.</a:t>
            </a:r>
            <a:endParaRPr lang="en-US" sz="810" dirty="0"/>
          </a:p>
        </p:txBody>
      </p:sp>
      <p:sp>
        <p:nvSpPr>
          <p:cNvPr id="91" name="Shape 89"/>
          <p:cNvSpPr/>
          <p:nvPr/>
        </p:nvSpPr>
        <p:spPr>
          <a:xfrm>
            <a:off x="731520" y="7196328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" y="726490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1143000" y="7200900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Tour Report / Data / Model views.</a:t>
            </a:r>
            <a:endParaRPr lang="en-US" sz="810" dirty="0"/>
          </a:p>
        </p:txBody>
      </p:sp>
      <p:sp>
        <p:nvSpPr>
          <p:cNvPr id="94" name="Shape 92"/>
          <p:cNvSpPr/>
          <p:nvPr/>
        </p:nvSpPr>
        <p:spPr>
          <a:xfrm>
            <a:off x="731520" y="7626096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1520" y="769467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1143000" y="7630668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Build Total Revenue Card + Revenue vs Target by Region + Channel Slicer.</a:t>
            </a:r>
            <a:endParaRPr lang="en-US" sz="810" dirty="0"/>
          </a:p>
        </p:txBody>
      </p:sp>
      <p:sp>
        <p:nvSpPr>
          <p:cNvPr id="97" name="Shape 95"/>
          <p:cNvSpPr/>
          <p:nvPr/>
        </p:nvSpPr>
        <p:spPr>
          <a:xfrm>
            <a:off x="475488" y="8348472"/>
            <a:ext cx="5907024" cy="2057400"/>
          </a:xfrm>
          <a:prstGeom prst="roundRect">
            <a:avLst>
              <a:gd name="adj" fmla="val 6222"/>
            </a:avLst>
          </a:prstGeom>
          <a:solidFill>
            <a:srgbClr val="111917"/>
          </a:solidFill>
          <a:ln w="8890">
            <a:solidFill>
              <a:srgbClr val="24543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3232" y="8613648"/>
            <a:ext cx="1261872" cy="292608"/>
          </a:xfrm>
          <a:prstGeom prst="roundRect">
            <a:avLst>
              <a:gd name="adj" fmla="val 43750"/>
            </a:avLst>
          </a:prstGeom>
          <a:solidFill>
            <a:srgbClr val="50BE87"/>
          </a:solidFill>
          <a:ln w="8890">
            <a:solidFill>
              <a:srgbClr val="50BE8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58952" y="8682228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610" dirty="0"/>
          </a:p>
        </p:txBody>
      </p:sp>
      <p:sp>
        <p:nvSpPr>
          <p:cNvPr id="100" name="Text 98"/>
          <p:cNvSpPr/>
          <p:nvPr/>
        </p:nvSpPr>
        <p:spPr>
          <a:xfrm>
            <a:off x="713232" y="9079992"/>
            <a:ext cx="5285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D5ECD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أول نسخة من Nova Business Performance 360 + فهم واضح لـ ETL + حفظ الملف باسم: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13232" y="9802368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Nova_Business_Performance_360_[Name].pbix</a:t>
            </a:r>
            <a:endParaRPr lang="en-US" sz="810" dirty="0"/>
          </a:p>
        </p:txBody>
      </p:sp>
      <p:sp>
        <p:nvSpPr>
          <p:cNvPr id="102" name="Shape 100"/>
          <p:cNvSpPr/>
          <p:nvPr/>
        </p:nvSpPr>
        <p:spPr>
          <a:xfrm>
            <a:off x="475488" y="10607040"/>
            <a:ext cx="5907024" cy="530352"/>
          </a:xfrm>
          <a:prstGeom prst="roundRect">
            <a:avLst>
              <a:gd name="adj" fmla="val 24138"/>
            </a:avLst>
          </a:prstGeom>
          <a:solidFill>
            <a:srgbClr val="1A1710"/>
          </a:solidFill>
          <a:ln w="8890">
            <a:solidFill>
              <a:srgbClr val="5D531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58368" y="10762488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10" b="1" dirty="0">
                <a:solidFill>
                  <a:srgbClr val="F0E4A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سؤال الإغلاق: أي Region أو Branch يحتاج انتباه أولاً؟ لا تقبل “Chart جميل” كإجابة.</a:t>
            </a:r>
            <a:endParaRPr lang="en-US" sz="7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F2C811">
              <a:alpha val="8000"/>
            </a:srgbClr>
          </a:solidFill>
          <a:ln w="12700">
            <a:solidFill>
              <a:srgbClr val="F2C811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 • CONNECT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 CUES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نقاط الشرح التي لا تريد أن تنساها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Cues سريعة أثناء التدريب، وليست Script حرفي.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475488" y="3246120"/>
            <a:ext cx="5907024" cy="1024128"/>
          </a:xfrm>
          <a:prstGeom prst="roundRect">
            <a:avLst>
              <a:gd name="adj" fmla="val 12500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4088" y="3465576"/>
            <a:ext cx="987552" cy="292608"/>
          </a:xfrm>
          <a:prstGeom prst="roundRect">
            <a:avLst>
              <a:gd name="adj" fmla="val 43750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3534156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ETL</a:t>
            </a:r>
            <a:endParaRPr lang="en-US" sz="610" dirty="0"/>
          </a:p>
        </p:txBody>
      </p:sp>
      <p:sp>
        <p:nvSpPr>
          <p:cNvPr id="70" name="Text 68"/>
          <p:cNvSpPr/>
          <p:nvPr/>
        </p:nvSpPr>
        <p:spPr>
          <a:xfrm>
            <a:off x="1828800" y="3456432"/>
            <a:ext cx="4270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25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نحن لا نستورد ملفاً فقط. نحن نبني مساراً من Source إلى Model.</a:t>
            </a:r>
            <a:endParaRPr lang="en-US" sz="825" dirty="0"/>
          </a:p>
        </p:txBody>
      </p:sp>
      <p:sp>
        <p:nvSpPr>
          <p:cNvPr id="71" name="Shape 69"/>
          <p:cNvSpPr/>
          <p:nvPr/>
        </p:nvSpPr>
        <p:spPr>
          <a:xfrm>
            <a:off x="475488" y="4416552"/>
            <a:ext cx="5907024" cy="1024128"/>
          </a:xfrm>
          <a:prstGeom prst="roundRect">
            <a:avLst>
              <a:gd name="adj" fmla="val 12500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4088" y="4636008"/>
            <a:ext cx="987552" cy="292608"/>
          </a:xfrm>
          <a:prstGeom prst="roundRect">
            <a:avLst>
              <a:gd name="adj" fmla="val 43750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9808" y="4704588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DATA</a:t>
            </a:r>
            <a:endParaRPr lang="en-US" sz="610" dirty="0"/>
          </a:p>
        </p:txBody>
      </p:sp>
      <p:sp>
        <p:nvSpPr>
          <p:cNvPr id="74" name="Text 72"/>
          <p:cNvSpPr/>
          <p:nvPr/>
        </p:nvSpPr>
        <p:spPr>
          <a:xfrm>
            <a:off x="1828800" y="4626864"/>
            <a:ext cx="4270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25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قوة Power BI تبدأ عندما لا تكون البيانات في مكان واحد.</a:t>
            </a:r>
            <a:endParaRPr lang="en-US" sz="825" dirty="0"/>
          </a:p>
        </p:txBody>
      </p:sp>
      <p:sp>
        <p:nvSpPr>
          <p:cNvPr id="75" name="Shape 73"/>
          <p:cNvSpPr/>
          <p:nvPr/>
        </p:nvSpPr>
        <p:spPr>
          <a:xfrm>
            <a:off x="475488" y="5586984"/>
            <a:ext cx="5907024" cy="1024128"/>
          </a:xfrm>
          <a:prstGeom prst="roundRect">
            <a:avLst>
              <a:gd name="adj" fmla="val 12500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04088" y="5806440"/>
            <a:ext cx="987552" cy="292608"/>
          </a:xfrm>
          <a:prstGeom prst="roundRect">
            <a:avLst>
              <a:gd name="adj" fmla="val 43750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9808" y="5875020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610" dirty="0"/>
          </a:p>
        </p:txBody>
      </p:sp>
      <p:sp>
        <p:nvSpPr>
          <p:cNvPr id="78" name="Text 76"/>
          <p:cNvSpPr/>
          <p:nvPr/>
        </p:nvSpPr>
        <p:spPr>
          <a:xfrm>
            <a:off x="1828800" y="5797296"/>
            <a:ext cx="4270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25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Report = explain • Data = inspect • Model = relate.</a:t>
            </a:r>
            <a:endParaRPr lang="en-US" sz="825" dirty="0"/>
          </a:p>
        </p:txBody>
      </p:sp>
      <p:sp>
        <p:nvSpPr>
          <p:cNvPr id="79" name="Shape 77"/>
          <p:cNvSpPr/>
          <p:nvPr/>
        </p:nvSpPr>
        <p:spPr>
          <a:xfrm>
            <a:off x="475488" y="6757416"/>
            <a:ext cx="5907024" cy="1024128"/>
          </a:xfrm>
          <a:prstGeom prst="roundRect">
            <a:avLst>
              <a:gd name="adj" fmla="val 12500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04088" y="6976872"/>
            <a:ext cx="987552" cy="292608"/>
          </a:xfrm>
          <a:prstGeom prst="roundRect">
            <a:avLst>
              <a:gd name="adj" fmla="val 43750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9808" y="7045452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</a:t>
            </a:r>
            <a:endParaRPr lang="en-US" sz="610" dirty="0"/>
          </a:p>
        </p:txBody>
      </p:sp>
      <p:sp>
        <p:nvSpPr>
          <p:cNvPr id="82" name="Text 80"/>
          <p:cNvSpPr/>
          <p:nvPr/>
        </p:nvSpPr>
        <p:spPr>
          <a:xfrm>
            <a:off x="1828800" y="6967728"/>
            <a:ext cx="4270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25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ابدأ Business Question قبل اختيار الـVisual.</a:t>
            </a:r>
            <a:endParaRPr lang="en-US" sz="825" dirty="0"/>
          </a:p>
        </p:txBody>
      </p:sp>
      <p:sp>
        <p:nvSpPr>
          <p:cNvPr id="83" name="Shape 81"/>
          <p:cNvSpPr/>
          <p:nvPr/>
        </p:nvSpPr>
        <p:spPr>
          <a:xfrm>
            <a:off x="475488" y="7927848"/>
            <a:ext cx="5907024" cy="1024128"/>
          </a:xfrm>
          <a:prstGeom prst="roundRect">
            <a:avLst>
              <a:gd name="adj" fmla="val 12500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4088" y="8147304"/>
            <a:ext cx="987552" cy="292608"/>
          </a:xfrm>
          <a:prstGeom prst="roundRect">
            <a:avLst>
              <a:gd name="adj" fmla="val 43750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9808" y="8215884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SLICER</a:t>
            </a:r>
            <a:endParaRPr lang="en-US" sz="610" dirty="0"/>
          </a:p>
        </p:txBody>
      </p:sp>
      <p:sp>
        <p:nvSpPr>
          <p:cNvPr id="86" name="Text 84"/>
          <p:cNvSpPr/>
          <p:nvPr/>
        </p:nvSpPr>
        <p:spPr>
          <a:xfrm>
            <a:off x="1828800" y="8138160"/>
            <a:ext cx="4270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25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خليهم يضغطوا بأنفسهم ويروا كيف يتغير Context.</a:t>
            </a:r>
            <a:endParaRPr lang="en-US" sz="825" dirty="0"/>
          </a:p>
        </p:txBody>
      </p:sp>
      <p:sp>
        <p:nvSpPr>
          <p:cNvPr id="87" name="Shape 85"/>
          <p:cNvSpPr/>
          <p:nvPr/>
        </p:nvSpPr>
        <p:spPr>
          <a:xfrm>
            <a:off x="475488" y="9098280"/>
            <a:ext cx="5907024" cy="1024128"/>
          </a:xfrm>
          <a:prstGeom prst="roundRect">
            <a:avLst>
              <a:gd name="adj" fmla="val 12500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04088" y="9317736"/>
            <a:ext cx="987552" cy="292608"/>
          </a:xfrm>
          <a:prstGeom prst="roundRect">
            <a:avLst>
              <a:gd name="adj" fmla="val 43750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49808" y="9386316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610" dirty="0"/>
          </a:p>
        </p:txBody>
      </p:sp>
      <p:sp>
        <p:nvSpPr>
          <p:cNvPr id="90" name="Text 88"/>
          <p:cNvSpPr/>
          <p:nvPr/>
        </p:nvSpPr>
        <p:spPr>
          <a:xfrm>
            <a:off x="1828800" y="9308592"/>
            <a:ext cx="4270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25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سمّوا الملف الآن؛ هذا المشروع سيكبر معنا كل يوم.</a:t>
            </a:r>
            <a:endParaRPr lang="en-US" sz="825" dirty="0"/>
          </a:p>
        </p:txBody>
      </p:sp>
      <p:sp>
        <p:nvSpPr>
          <p:cNvPr id="91" name="Shape 89"/>
          <p:cNvSpPr/>
          <p:nvPr/>
        </p:nvSpPr>
        <p:spPr>
          <a:xfrm>
            <a:off x="475488" y="10396728"/>
            <a:ext cx="5907024" cy="868680"/>
          </a:xfrm>
          <a:prstGeom prst="roundRect">
            <a:avLst>
              <a:gd name="adj" fmla="val 14737"/>
            </a:avLst>
          </a:prstGeom>
          <a:solidFill>
            <a:srgbClr val="12161A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5800" y="1066190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علامة نجاح Day 1: المتدرب قادر يشرح ETL بكلماته، ويعرف لماذا استخدم 5 Sources مختلفة.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099999">
              <a:alpha val="8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 • CLEAN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 • 22 SEP 2026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Day 02 — قبل الجلسة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اليوم ليس “Power Query buttons”. اليوم هو Data Quality judgment.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841248" y="3291840"/>
            <a:ext cx="4434840" cy="0"/>
          </a:xfrm>
          <a:prstGeom prst="line">
            <a:avLst/>
          </a:prstGeom>
          <a:noFill/>
          <a:ln w="15240">
            <a:solidFill>
              <a:srgbClr val="2A2D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368" y="3127248"/>
            <a:ext cx="329184" cy="329184"/>
          </a:xfrm>
          <a:prstGeom prst="ellipse">
            <a:avLst/>
          </a:prstGeom>
          <a:solidFill>
            <a:srgbClr val="242831"/>
          </a:solidFill>
          <a:ln w="12700">
            <a:solidFill>
              <a:srgbClr val="24283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3776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219456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وصّل كل شيء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514600" y="3127248"/>
            <a:ext cx="329184" cy="329184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50008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620" dirty="0"/>
          </a:p>
        </p:txBody>
      </p:sp>
      <p:sp>
        <p:nvSpPr>
          <p:cNvPr id="73" name="Text 71"/>
          <p:cNvSpPr/>
          <p:nvPr/>
        </p:nvSpPr>
        <p:spPr>
          <a:xfrm>
            <a:off x="2075688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نظّف البيانات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370832" y="3127248"/>
            <a:ext cx="329184" cy="329184"/>
          </a:xfrm>
          <a:prstGeom prst="ellipse">
            <a:avLst/>
          </a:prstGeom>
          <a:solidFill>
            <a:srgbClr val="242831"/>
          </a:solidFill>
          <a:ln w="12700">
            <a:solidFill>
              <a:srgbClr val="24283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6240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620" dirty="0"/>
          </a:p>
        </p:txBody>
      </p:sp>
      <p:sp>
        <p:nvSpPr>
          <p:cNvPr id="76" name="Text 74"/>
          <p:cNvSpPr/>
          <p:nvPr/>
        </p:nvSpPr>
        <p:spPr>
          <a:xfrm>
            <a:off x="3931920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أوقف Copy/Paste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75488" y="4343400"/>
            <a:ext cx="5907024" cy="3017520"/>
          </a:xfrm>
          <a:prstGeom prst="roundRect">
            <a:avLst>
              <a:gd name="adj" fmla="val 4242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3232" y="459028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099999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PRE-FLIGHT CHECK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31520" y="5029200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1520" y="50977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1143000" y="5033772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تأكد أن Day02_CLEAN_DATA.zip متاح للتحميل من الموقع.</a:t>
            </a:r>
            <a:endParaRPr lang="en-US" sz="810" dirty="0"/>
          </a:p>
        </p:txBody>
      </p:sp>
      <p:sp>
        <p:nvSpPr>
          <p:cNvPr id="82" name="Shape 80"/>
          <p:cNvSpPr/>
          <p:nvPr/>
        </p:nvSpPr>
        <p:spPr>
          <a:xfrm>
            <a:off x="731520" y="5468112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" y="553669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143000" y="5472684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ابدأ بملف Branch Daily Performance dirty كما هو — لا تفتح نسخة نظيفة.</a:t>
            </a:r>
            <a:endParaRPr lang="en-US" sz="810" dirty="0"/>
          </a:p>
        </p:txBody>
      </p:sp>
      <p:sp>
        <p:nvSpPr>
          <p:cNvPr id="85" name="Shape 83"/>
          <p:cNvSpPr/>
          <p:nvPr/>
        </p:nvSpPr>
        <p:spPr>
          <a:xfrm>
            <a:off x="731520" y="5907024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1520" y="59756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1143000" y="5911596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اكتب Grain على الشاشة قبل أي خطوة: Branch ID + Date.</a:t>
            </a:r>
            <a:endParaRPr lang="en-US" sz="810" dirty="0"/>
          </a:p>
        </p:txBody>
      </p:sp>
      <p:sp>
        <p:nvSpPr>
          <p:cNvPr id="88" name="Shape 86"/>
          <p:cNvSpPr/>
          <p:nvPr/>
        </p:nvSpPr>
        <p:spPr>
          <a:xfrm>
            <a:off x="731520" y="6345936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0" y="641451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1143000" y="6350508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جهّز أمثلة أخطاء واضحة: dates / regions / revenue / headcount / duplicates.</a:t>
            </a:r>
            <a:endParaRPr lang="en-US" sz="810" dirty="0"/>
          </a:p>
        </p:txBody>
      </p:sp>
      <p:sp>
        <p:nvSpPr>
          <p:cNvPr id="91" name="Shape 89"/>
          <p:cNvSpPr/>
          <p:nvPr/>
        </p:nvSpPr>
        <p:spPr>
          <a:xfrm>
            <a:off x="731520" y="6784848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" y="685342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1143000" y="6789420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لن نحذف Null أو Duplicate إلا بسبب Business واضح.</a:t>
            </a:r>
            <a:endParaRPr lang="en-US" sz="810" dirty="0"/>
          </a:p>
        </p:txBody>
      </p:sp>
      <p:sp>
        <p:nvSpPr>
          <p:cNvPr id="94" name="Shape 92"/>
          <p:cNvSpPr/>
          <p:nvPr/>
        </p:nvSpPr>
        <p:spPr>
          <a:xfrm>
            <a:off x="475488" y="7644384"/>
            <a:ext cx="5907024" cy="1993392"/>
          </a:xfrm>
          <a:prstGeom prst="roundRect">
            <a:avLst>
              <a:gd name="adj" fmla="val 6422"/>
            </a:avLst>
          </a:prstGeom>
          <a:solidFill>
            <a:srgbClr val="111A1A"/>
          </a:solidFill>
          <a:ln w="8890">
            <a:solidFill>
              <a:srgbClr val="235A5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13232" y="790956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الملف الذي تعطيه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13232" y="8385048"/>
            <a:ext cx="2139696" cy="438912"/>
          </a:xfrm>
          <a:prstGeom prst="roundRect">
            <a:avLst>
              <a:gd name="adj" fmla="val 29167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04672" y="851306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 CLEANING LAB</a:t>
            </a:r>
            <a:endParaRPr lang="en-US" sz="700" dirty="0"/>
          </a:p>
        </p:txBody>
      </p:sp>
      <p:sp>
        <p:nvSpPr>
          <p:cNvPr id="98" name="Shape 96">
            <a:hlinkClick r:id="rId1" tooltip=""/>
          </p:cNvPr>
          <p:cNvSpPr/>
          <p:nvPr/>
        </p:nvSpPr>
        <p:spPr>
          <a:xfrm>
            <a:off x="713232" y="8385048"/>
            <a:ext cx="213969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3232" y="90342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8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50K logical Branch-Day rows + intentional bad duplicates + 8K Dirty Customers + Cleaning Checklist.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099999">
              <a:alpha val="8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 • CLEAN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120-MIN FLOW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Run of Show — Day 02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التركيز: inspect → decide → clean → validate → refresh.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475488" y="3246120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8368" y="34655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00–10</a:t>
            </a:r>
            <a:endParaRPr lang="en-US" sz="920" dirty="0"/>
          </a:p>
        </p:txBody>
      </p:sp>
      <p:sp>
        <p:nvSpPr>
          <p:cNvPr id="69" name="Text 67"/>
          <p:cNvSpPr/>
          <p:nvPr/>
        </p:nvSpPr>
        <p:spPr>
          <a:xfrm>
            <a:off x="1417320" y="34015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</a:t>
            </a:r>
            <a:endParaRPr lang="en-US" sz="630" dirty="0"/>
          </a:p>
        </p:txBody>
      </p:sp>
      <p:sp>
        <p:nvSpPr>
          <p:cNvPr id="70" name="Text 68"/>
          <p:cNvSpPr/>
          <p:nvPr/>
        </p:nvSpPr>
        <p:spPr>
          <a:xfrm>
            <a:off x="2743200" y="33741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افتح PBIX من Day 1. ما المشكلة لو كانت البيانات نفسها غير موثوقة؟</a:t>
            </a:r>
            <a:endParaRPr lang="en-US" sz="725" dirty="0"/>
          </a:p>
        </p:txBody>
      </p:sp>
      <p:sp>
        <p:nvSpPr>
          <p:cNvPr id="71" name="Shape 69"/>
          <p:cNvSpPr/>
          <p:nvPr/>
        </p:nvSpPr>
        <p:spPr>
          <a:xfrm>
            <a:off x="475488" y="4178808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8368" y="43982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10–25</a:t>
            </a:r>
            <a:endParaRPr lang="en-US" sz="920" dirty="0"/>
          </a:p>
        </p:txBody>
      </p:sp>
      <p:sp>
        <p:nvSpPr>
          <p:cNvPr id="73" name="Text 71"/>
          <p:cNvSpPr/>
          <p:nvPr/>
        </p:nvSpPr>
        <p:spPr>
          <a:xfrm>
            <a:off x="1417320" y="433425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GRAIN</a:t>
            </a:r>
            <a:endParaRPr lang="en-US" sz="630" dirty="0"/>
          </a:p>
        </p:txBody>
      </p:sp>
      <p:sp>
        <p:nvSpPr>
          <p:cNvPr id="74" name="Text 72"/>
          <p:cNvSpPr/>
          <p:nvPr/>
        </p:nvSpPr>
        <p:spPr>
          <a:xfrm>
            <a:off x="2743200" y="430682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ثبت Branch ID + Date كـgrain. فرّق duplicate الحقيقي عن repeated event.</a:t>
            </a:r>
            <a:endParaRPr lang="en-US" sz="725" dirty="0"/>
          </a:p>
        </p:txBody>
      </p:sp>
      <p:sp>
        <p:nvSpPr>
          <p:cNvPr id="75" name="Shape 73"/>
          <p:cNvSpPr/>
          <p:nvPr/>
        </p:nvSpPr>
        <p:spPr>
          <a:xfrm>
            <a:off x="475488" y="5111496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" y="5330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25–45</a:t>
            </a:r>
            <a:endParaRPr lang="en-US" sz="920" dirty="0"/>
          </a:p>
        </p:txBody>
      </p:sp>
      <p:sp>
        <p:nvSpPr>
          <p:cNvPr id="77" name="Text 75"/>
          <p:cNvSpPr/>
          <p:nvPr/>
        </p:nvSpPr>
        <p:spPr>
          <a:xfrm>
            <a:off x="1417320" y="526694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</a:t>
            </a:r>
            <a:endParaRPr lang="en-US" sz="630" dirty="0"/>
          </a:p>
        </p:txBody>
      </p:sp>
      <p:sp>
        <p:nvSpPr>
          <p:cNvPr id="78" name="Text 76"/>
          <p:cNvSpPr/>
          <p:nvPr/>
        </p:nvSpPr>
        <p:spPr>
          <a:xfrm>
            <a:off x="2743200" y="523951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Column quality + data types + inspect errors قبل الحل.</a:t>
            </a:r>
            <a:endParaRPr lang="en-US" sz="725" dirty="0"/>
          </a:p>
        </p:txBody>
      </p:sp>
      <p:sp>
        <p:nvSpPr>
          <p:cNvPr id="79" name="Shape 77"/>
          <p:cNvSpPr/>
          <p:nvPr/>
        </p:nvSpPr>
        <p:spPr>
          <a:xfrm>
            <a:off x="475488" y="6044184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8368" y="62636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45–70</a:t>
            </a:r>
            <a:endParaRPr lang="en-US" sz="920" dirty="0"/>
          </a:p>
        </p:txBody>
      </p:sp>
      <p:sp>
        <p:nvSpPr>
          <p:cNvPr id="81" name="Text 79"/>
          <p:cNvSpPr/>
          <p:nvPr/>
        </p:nvSpPr>
        <p:spPr>
          <a:xfrm>
            <a:off x="1417320" y="61996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630" dirty="0"/>
          </a:p>
        </p:txBody>
      </p:sp>
      <p:sp>
        <p:nvSpPr>
          <p:cNvPr id="82" name="Text 80"/>
          <p:cNvSpPr/>
          <p:nvPr/>
        </p:nvSpPr>
        <p:spPr>
          <a:xfrm>
            <a:off x="2743200" y="61722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Trim/Clean + standardize Region/Channel + Replace Values.</a:t>
            </a:r>
            <a:endParaRPr lang="en-US" sz="725" dirty="0"/>
          </a:p>
        </p:txBody>
      </p:sp>
      <p:sp>
        <p:nvSpPr>
          <p:cNvPr id="83" name="Shape 81"/>
          <p:cNvSpPr/>
          <p:nvPr/>
        </p:nvSpPr>
        <p:spPr>
          <a:xfrm>
            <a:off x="475488" y="6976872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8368" y="71963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70–90</a:t>
            </a:r>
            <a:endParaRPr lang="en-US" sz="920" dirty="0"/>
          </a:p>
        </p:txBody>
      </p:sp>
      <p:sp>
        <p:nvSpPr>
          <p:cNvPr id="85" name="Text 83"/>
          <p:cNvSpPr/>
          <p:nvPr/>
        </p:nvSpPr>
        <p:spPr>
          <a:xfrm>
            <a:off x="1417320" y="71323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NULLS &amp; ERRORS</a:t>
            </a:r>
            <a:endParaRPr lang="en-US" sz="630" dirty="0"/>
          </a:p>
        </p:txBody>
      </p:sp>
      <p:sp>
        <p:nvSpPr>
          <p:cNvPr id="86" name="Text 84"/>
          <p:cNvSpPr/>
          <p:nvPr/>
        </p:nvSpPr>
        <p:spPr>
          <a:xfrm>
            <a:off x="2743200" y="71048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متى replace؟ متى remove؟ متى investigate؟</a:t>
            </a:r>
            <a:endParaRPr lang="en-US" sz="725" dirty="0"/>
          </a:p>
        </p:txBody>
      </p:sp>
      <p:sp>
        <p:nvSpPr>
          <p:cNvPr id="87" name="Shape 85"/>
          <p:cNvSpPr/>
          <p:nvPr/>
        </p:nvSpPr>
        <p:spPr>
          <a:xfrm>
            <a:off x="475488" y="7909560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8368" y="81290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90–105</a:t>
            </a:r>
            <a:endParaRPr lang="en-US" sz="920" dirty="0"/>
          </a:p>
        </p:txBody>
      </p:sp>
      <p:sp>
        <p:nvSpPr>
          <p:cNvPr id="89" name="Text 87"/>
          <p:cNvSpPr/>
          <p:nvPr/>
        </p:nvSpPr>
        <p:spPr>
          <a:xfrm>
            <a:off x="1417320" y="806500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</a:t>
            </a:r>
            <a:endParaRPr lang="en-US" sz="630" dirty="0"/>
          </a:p>
        </p:txBody>
      </p:sp>
      <p:sp>
        <p:nvSpPr>
          <p:cNvPr id="90" name="Text 88"/>
          <p:cNvSpPr/>
          <p:nvPr/>
        </p:nvSpPr>
        <p:spPr>
          <a:xfrm>
            <a:off x="2743200" y="80375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احذف فقط true duplicates واطلب منهم الدفاع عن القرار.</a:t>
            </a:r>
            <a:endParaRPr lang="en-US" sz="725" dirty="0"/>
          </a:p>
        </p:txBody>
      </p:sp>
      <p:sp>
        <p:nvSpPr>
          <p:cNvPr id="91" name="Shape 89"/>
          <p:cNvSpPr/>
          <p:nvPr/>
        </p:nvSpPr>
        <p:spPr>
          <a:xfrm>
            <a:off x="475488" y="8842248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8368" y="90617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105–115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1417320" y="899769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</a:t>
            </a:r>
            <a:endParaRPr lang="en-US" sz="630" dirty="0"/>
          </a:p>
        </p:txBody>
      </p:sp>
      <p:sp>
        <p:nvSpPr>
          <p:cNvPr id="94" name="Text 92"/>
          <p:cNvSpPr/>
          <p:nvPr/>
        </p:nvSpPr>
        <p:spPr>
          <a:xfrm>
            <a:off x="2743200" y="89702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Customer Master challenge بدون recipe خطوة بخطوة.</a:t>
            </a:r>
            <a:endParaRPr lang="en-US" sz="725" dirty="0"/>
          </a:p>
        </p:txBody>
      </p:sp>
      <p:sp>
        <p:nvSpPr>
          <p:cNvPr id="95" name="Shape 93"/>
          <p:cNvSpPr/>
          <p:nvPr/>
        </p:nvSpPr>
        <p:spPr>
          <a:xfrm>
            <a:off x="475488" y="9774936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8368" y="99943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115–120</a:t>
            </a:r>
            <a:endParaRPr lang="en-US" sz="920" dirty="0"/>
          </a:p>
        </p:txBody>
      </p:sp>
      <p:sp>
        <p:nvSpPr>
          <p:cNvPr id="97" name="Text 95"/>
          <p:cNvSpPr/>
          <p:nvPr/>
        </p:nvSpPr>
        <p:spPr>
          <a:xfrm>
            <a:off x="1417320" y="993038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630" dirty="0"/>
          </a:p>
        </p:txBody>
      </p:sp>
      <p:sp>
        <p:nvSpPr>
          <p:cNvPr id="98" name="Text 96"/>
          <p:cNvSpPr/>
          <p:nvPr/>
        </p:nvSpPr>
        <p:spPr>
          <a:xfrm>
            <a:off x="2743200" y="99029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Applied Steps + Refresh + deliverable check.</a:t>
            </a:r>
            <a:endParaRPr lang="en-US" sz="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099999">
              <a:alpha val="8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 • CLEAN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CLEANING PROTOCOL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ترتيب التنظيف الذي أريدهم يتعلموه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ترتيب ثابت يمكنهم إعادة استخدامه على أي Dataset، وليس فقط Nova.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475488" y="3200400"/>
            <a:ext cx="5907024" cy="822960"/>
          </a:xfrm>
          <a:prstGeom prst="roundRect">
            <a:avLst>
              <a:gd name="adj" fmla="val 15556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8368" y="341071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1152144" y="3374136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GRAIN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2148840" y="3328416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ما هو row واحد؟ ما هو الـkey المنطقي؟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75488" y="4105656"/>
            <a:ext cx="5907024" cy="822960"/>
          </a:xfrm>
          <a:prstGeom prst="roundRect">
            <a:avLst>
              <a:gd name="adj" fmla="val 15556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8368" y="431596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40" dirty="0"/>
          </a:p>
        </p:txBody>
      </p:sp>
      <p:sp>
        <p:nvSpPr>
          <p:cNvPr id="73" name="Text 71"/>
          <p:cNvSpPr/>
          <p:nvPr/>
        </p:nvSpPr>
        <p:spPr>
          <a:xfrm>
            <a:off x="1152144" y="4279392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</a:t>
            </a:r>
            <a:endParaRPr lang="en-US" sz="620" dirty="0"/>
          </a:p>
        </p:txBody>
      </p:sp>
      <p:sp>
        <p:nvSpPr>
          <p:cNvPr id="74" name="Text 72"/>
          <p:cNvSpPr/>
          <p:nvPr/>
        </p:nvSpPr>
        <p:spPr>
          <a:xfrm>
            <a:off x="2148840" y="4233672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Dates / numbers / text قبل أي Transformation أخرى.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75488" y="5010912"/>
            <a:ext cx="5907024" cy="822960"/>
          </a:xfrm>
          <a:prstGeom prst="roundRect">
            <a:avLst>
              <a:gd name="adj" fmla="val 15556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" y="522122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40" dirty="0"/>
          </a:p>
        </p:txBody>
      </p:sp>
      <p:sp>
        <p:nvSpPr>
          <p:cNvPr id="77" name="Text 75"/>
          <p:cNvSpPr/>
          <p:nvPr/>
        </p:nvSpPr>
        <p:spPr>
          <a:xfrm>
            <a:off x="1152144" y="5184648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620" dirty="0"/>
          </a:p>
        </p:txBody>
      </p:sp>
      <p:sp>
        <p:nvSpPr>
          <p:cNvPr id="78" name="Text 76"/>
          <p:cNvSpPr/>
          <p:nvPr/>
        </p:nvSpPr>
        <p:spPr>
          <a:xfrm>
            <a:off x="2148840" y="5138928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Trim + Clean + standardize labels.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75488" y="5916168"/>
            <a:ext cx="5907024" cy="822960"/>
          </a:xfrm>
          <a:prstGeom prst="roundRect">
            <a:avLst>
              <a:gd name="adj" fmla="val 15556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8368" y="61264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40" dirty="0"/>
          </a:p>
        </p:txBody>
      </p:sp>
      <p:sp>
        <p:nvSpPr>
          <p:cNvPr id="81" name="Text 79"/>
          <p:cNvSpPr/>
          <p:nvPr/>
        </p:nvSpPr>
        <p:spPr>
          <a:xfrm>
            <a:off x="1152144" y="6089904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</a:t>
            </a:r>
            <a:endParaRPr lang="en-US" sz="620" dirty="0"/>
          </a:p>
        </p:txBody>
      </p:sp>
      <p:sp>
        <p:nvSpPr>
          <p:cNvPr id="82" name="Text 80"/>
          <p:cNvSpPr/>
          <p:nvPr/>
        </p:nvSpPr>
        <p:spPr>
          <a:xfrm>
            <a:off x="2148840" y="6044184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Nulls: business decision، لا default reflex.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75488" y="6821424"/>
            <a:ext cx="5907024" cy="822960"/>
          </a:xfrm>
          <a:prstGeom prst="roundRect">
            <a:avLst>
              <a:gd name="adj" fmla="val 15556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8368" y="703173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40" dirty="0"/>
          </a:p>
        </p:txBody>
      </p:sp>
      <p:sp>
        <p:nvSpPr>
          <p:cNvPr id="85" name="Text 83"/>
          <p:cNvSpPr/>
          <p:nvPr/>
        </p:nvSpPr>
        <p:spPr>
          <a:xfrm>
            <a:off x="1152144" y="6995160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620" dirty="0"/>
          </a:p>
        </p:txBody>
      </p:sp>
      <p:sp>
        <p:nvSpPr>
          <p:cNvPr id="86" name="Text 84"/>
          <p:cNvSpPr/>
          <p:nvPr/>
        </p:nvSpPr>
        <p:spPr>
          <a:xfrm>
            <a:off x="2148840" y="6949440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افهم سبب الخطأ قبل remove / replace.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75488" y="7726680"/>
            <a:ext cx="5907024" cy="822960"/>
          </a:xfrm>
          <a:prstGeom prst="roundRect">
            <a:avLst>
              <a:gd name="adj" fmla="val 15556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8368" y="79369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40" dirty="0"/>
          </a:p>
        </p:txBody>
      </p:sp>
      <p:sp>
        <p:nvSpPr>
          <p:cNvPr id="89" name="Text 87"/>
          <p:cNvSpPr/>
          <p:nvPr/>
        </p:nvSpPr>
        <p:spPr>
          <a:xfrm>
            <a:off x="1152144" y="7900416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</a:t>
            </a:r>
            <a:endParaRPr lang="en-US" sz="620" dirty="0"/>
          </a:p>
        </p:txBody>
      </p:sp>
      <p:sp>
        <p:nvSpPr>
          <p:cNvPr id="90" name="Text 88"/>
          <p:cNvSpPr/>
          <p:nvPr/>
        </p:nvSpPr>
        <p:spPr>
          <a:xfrm>
            <a:off x="2148840" y="7854696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احذف فقط row يكرر نفس الحدث بنفس الـgrain.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75488" y="8631936"/>
            <a:ext cx="5907024" cy="822960"/>
          </a:xfrm>
          <a:prstGeom prst="roundRect">
            <a:avLst>
              <a:gd name="adj" fmla="val 15556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8368" y="88422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40" dirty="0"/>
          </a:p>
        </p:txBody>
      </p:sp>
      <p:sp>
        <p:nvSpPr>
          <p:cNvPr id="93" name="Text 91"/>
          <p:cNvSpPr/>
          <p:nvPr/>
        </p:nvSpPr>
        <p:spPr>
          <a:xfrm>
            <a:off x="1152144" y="8805672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</a:t>
            </a:r>
            <a:endParaRPr lang="en-US" sz="620" dirty="0"/>
          </a:p>
        </p:txBody>
      </p:sp>
      <p:sp>
        <p:nvSpPr>
          <p:cNvPr id="94" name="Text 92"/>
          <p:cNvSpPr/>
          <p:nvPr/>
        </p:nvSpPr>
        <p:spPr>
          <a:xfrm>
            <a:off x="2148840" y="8759952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Applied Steps قابلة للشرح والترتيب والـRefresh.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75488" y="9537192"/>
            <a:ext cx="5907024" cy="822960"/>
          </a:xfrm>
          <a:prstGeom prst="roundRect">
            <a:avLst>
              <a:gd name="adj" fmla="val 15556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8368" y="974750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40" dirty="0"/>
          </a:p>
        </p:txBody>
      </p:sp>
      <p:sp>
        <p:nvSpPr>
          <p:cNvPr id="97" name="Text 95"/>
          <p:cNvSpPr/>
          <p:nvPr/>
        </p:nvSpPr>
        <p:spPr>
          <a:xfrm>
            <a:off x="1152144" y="9710928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</a:t>
            </a:r>
            <a:endParaRPr lang="en-US" sz="620" dirty="0"/>
          </a:p>
        </p:txBody>
      </p:sp>
      <p:sp>
        <p:nvSpPr>
          <p:cNvPr id="98" name="Text 96"/>
          <p:cNvSpPr/>
          <p:nvPr/>
        </p:nvSpPr>
        <p:spPr>
          <a:xfrm>
            <a:off x="2148840" y="9665208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5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Row counts + key checks + spot check before closing.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75488" y="10515600"/>
            <a:ext cx="5907024" cy="658368"/>
          </a:xfrm>
          <a:prstGeom prst="roundRect">
            <a:avLst>
              <a:gd name="adj" fmla="val 19444"/>
            </a:avLst>
          </a:prstGeom>
          <a:solidFill>
            <a:srgbClr val="111917"/>
          </a:solidFill>
          <a:ln w="8890">
            <a:solidFill>
              <a:srgbClr val="24543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58368" y="1070762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70" b="1" dirty="0">
                <a:solidFill>
                  <a:srgbClr val="D5ECD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Deliverable: Branch Daily Performance + Customer Master نظيفان، Grain واضح، وRefresh يعمل بدون surprises.</a:t>
            </a:r>
            <a:endParaRPr lang="en-US" sz="7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695CFF">
              <a:alpha val="8000"/>
            </a:srgbClr>
          </a:solidFill>
          <a:ln w="12700">
            <a:solidFill>
              <a:srgbClr val="695C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 • AUTOMATE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 • 23 SEP 2026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Day 03 — قبل الجلسة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اللحظة المهمة اليوم: April يدخل بالـRefresh فقط. هذا هو الـproof.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841248" y="3291840"/>
            <a:ext cx="4434840" cy="0"/>
          </a:xfrm>
          <a:prstGeom prst="line">
            <a:avLst/>
          </a:prstGeom>
          <a:noFill/>
          <a:ln w="15240">
            <a:solidFill>
              <a:srgbClr val="2A2D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368" y="3127248"/>
            <a:ext cx="329184" cy="329184"/>
          </a:xfrm>
          <a:prstGeom prst="ellipse">
            <a:avLst/>
          </a:prstGeom>
          <a:solidFill>
            <a:srgbClr val="242831"/>
          </a:solidFill>
          <a:ln w="12700">
            <a:solidFill>
              <a:srgbClr val="24283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3776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219456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وصّل كل شيء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514600" y="3127248"/>
            <a:ext cx="329184" cy="329184"/>
          </a:xfrm>
          <a:prstGeom prst="ellipse">
            <a:avLst/>
          </a:prstGeom>
          <a:solidFill>
            <a:srgbClr val="242831"/>
          </a:solidFill>
          <a:ln w="12700">
            <a:solidFill>
              <a:srgbClr val="24283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50008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620" dirty="0"/>
          </a:p>
        </p:txBody>
      </p:sp>
      <p:sp>
        <p:nvSpPr>
          <p:cNvPr id="73" name="Text 71"/>
          <p:cNvSpPr/>
          <p:nvPr/>
        </p:nvSpPr>
        <p:spPr>
          <a:xfrm>
            <a:off x="2075688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نظّف البيانات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370832" y="3127248"/>
            <a:ext cx="329184" cy="329184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6240" y="360273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620" dirty="0"/>
          </a:p>
        </p:txBody>
      </p:sp>
      <p:sp>
        <p:nvSpPr>
          <p:cNvPr id="76" name="Text 74"/>
          <p:cNvSpPr/>
          <p:nvPr/>
        </p:nvSpPr>
        <p:spPr>
          <a:xfrm>
            <a:off x="3931920" y="38404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75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أوقف Copy/Paste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75488" y="4352544"/>
            <a:ext cx="5907024" cy="2907792"/>
          </a:xfrm>
          <a:prstGeom prst="roundRect">
            <a:avLst>
              <a:gd name="adj" fmla="val 4403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3232" y="459943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695C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PRE-FLIGHT CHECK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31520" y="5010912"/>
            <a:ext cx="292608" cy="292608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1520" y="507949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1143000" y="5015484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5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تأكد أن Day03_STOP_COPYING_FILES_LEARNER.zip متاح.</a:t>
            </a:r>
            <a:endParaRPr lang="en-US" sz="805" dirty="0"/>
          </a:p>
        </p:txBody>
      </p:sp>
      <p:sp>
        <p:nvSpPr>
          <p:cNvPr id="82" name="Shape 80"/>
          <p:cNvSpPr/>
          <p:nvPr/>
        </p:nvSpPr>
        <p:spPr>
          <a:xfrm>
            <a:off x="731520" y="5449824"/>
            <a:ext cx="292608" cy="292608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" y="55184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143000" y="5454396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5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لا تضع April داخل Folder من البداية. خليه خارج Folder حتى لحظة الـproof.</a:t>
            </a:r>
            <a:endParaRPr lang="en-US" sz="805" dirty="0"/>
          </a:p>
        </p:txBody>
      </p:sp>
      <p:sp>
        <p:nvSpPr>
          <p:cNvPr id="85" name="Shape 83"/>
          <p:cNvSpPr/>
          <p:nvPr/>
        </p:nvSpPr>
        <p:spPr>
          <a:xfrm>
            <a:off x="731520" y="5888736"/>
            <a:ext cx="292608" cy="292608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1520" y="595731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1143000" y="5893308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5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تحقق أن Jan–Mar هي نفس 120K rows المستخدمة في Day 1 لكن مقسمة شهرياً.</a:t>
            </a:r>
            <a:endParaRPr lang="en-US" sz="805" dirty="0"/>
          </a:p>
        </p:txBody>
      </p:sp>
      <p:sp>
        <p:nvSpPr>
          <p:cNvPr id="88" name="Shape 86"/>
          <p:cNvSpPr/>
          <p:nvPr/>
        </p:nvSpPr>
        <p:spPr>
          <a:xfrm>
            <a:off x="731520" y="6327648"/>
            <a:ext cx="292608" cy="292608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0" y="639622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1143000" y="6332220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5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جهّز Branch / Customer / Product Masters للـMerge.</a:t>
            </a:r>
            <a:endParaRPr lang="en-US" sz="805" dirty="0"/>
          </a:p>
        </p:txBody>
      </p:sp>
      <p:sp>
        <p:nvSpPr>
          <p:cNvPr id="91" name="Shape 89"/>
          <p:cNvSpPr/>
          <p:nvPr/>
        </p:nvSpPr>
        <p:spPr>
          <a:xfrm>
            <a:off x="731520" y="6766560"/>
            <a:ext cx="292608" cy="292608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" y="683514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1143000" y="6771132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5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حدد Final Query واحدة فقط للـLoad، والباقي staging/reference.</a:t>
            </a:r>
            <a:endParaRPr lang="en-US" sz="805" dirty="0"/>
          </a:p>
        </p:txBody>
      </p:sp>
      <p:sp>
        <p:nvSpPr>
          <p:cNvPr id="94" name="Shape 92"/>
          <p:cNvSpPr/>
          <p:nvPr/>
        </p:nvSpPr>
        <p:spPr>
          <a:xfrm>
            <a:off x="475488" y="7552944"/>
            <a:ext cx="5907024" cy="2039112"/>
          </a:xfrm>
          <a:prstGeom prst="roundRect">
            <a:avLst>
              <a:gd name="adj" fmla="val 6278"/>
            </a:avLst>
          </a:prstGeom>
          <a:solidFill>
            <a:srgbClr val="171420"/>
          </a:solidFill>
          <a:ln w="8890">
            <a:solidFill>
              <a:srgbClr val="4B426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13232" y="783640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الملف الذي تعطيه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13232" y="8330184"/>
            <a:ext cx="2331720" cy="438912"/>
          </a:xfrm>
          <a:prstGeom prst="roundRect">
            <a:avLst>
              <a:gd name="adj" fmla="val 29167"/>
            </a:avLst>
          </a:prstGeom>
          <a:solidFill>
            <a:srgbClr val="695CFF"/>
          </a:solidFill>
          <a:ln w="8890">
            <a:solidFill>
              <a:srgbClr val="695C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04672" y="84582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 AUTOMATION PACK</a:t>
            </a:r>
            <a:endParaRPr lang="en-US" sz="700" dirty="0"/>
          </a:p>
        </p:txBody>
      </p:sp>
      <p:sp>
        <p:nvSpPr>
          <p:cNvPr id="98" name="Shape 96">
            <a:hlinkClick r:id="rId1" tooltip=""/>
          </p:cNvPr>
          <p:cNvSpPr/>
          <p:nvPr/>
        </p:nvSpPr>
        <p:spPr>
          <a:xfrm>
            <a:off x="713232" y="8330184"/>
            <a:ext cx="233172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3232" y="899769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8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Jan–Mar × 40K + April refresh proof + Branch / Customer / Product Masters.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695CFF">
              <a:alpha val="8000"/>
            </a:srgbClr>
          </a:solidFill>
          <a:ln w="12700">
            <a:solidFill>
              <a:srgbClr val="695C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 • AUTOMATE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120-MIN FLOW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Run of Show — Day 03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التركيز: scalable process، لا monthly manual work.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475488" y="3246120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8368" y="34655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00–10</a:t>
            </a:r>
            <a:endParaRPr lang="en-US" sz="920" dirty="0"/>
          </a:p>
        </p:txBody>
      </p:sp>
      <p:sp>
        <p:nvSpPr>
          <p:cNvPr id="69" name="Text 67"/>
          <p:cNvSpPr/>
          <p:nvPr/>
        </p:nvSpPr>
        <p:spPr>
          <a:xfrm>
            <a:off x="1417320" y="34015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</a:t>
            </a:r>
            <a:endParaRPr lang="en-US" sz="630" dirty="0"/>
          </a:p>
        </p:txBody>
      </p:sp>
      <p:sp>
        <p:nvSpPr>
          <p:cNvPr id="70" name="Text 68"/>
          <p:cNvSpPr/>
          <p:nvPr/>
        </p:nvSpPr>
        <p:spPr>
          <a:xfrm>
            <a:off x="2743200" y="33741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اعرض Jan / Feb / Mar كملفات منفصلة. هل سنكرر الشغل كل شهر؟</a:t>
            </a:r>
            <a:endParaRPr lang="en-US" sz="725" dirty="0"/>
          </a:p>
        </p:txBody>
      </p:sp>
      <p:sp>
        <p:nvSpPr>
          <p:cNvPr id="71" name="Shape 69"/>
          <p:cNvSpPr/>
          <p:nvPr/>
        </p:nvSpPr>
        <p:spPr>
          <a:xfrm>
            <a:off x="475488" y="4178808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8368" y="43982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10–30</a:t>
            </a:r>
            <a:endParaRPr lang="en-US" sz="920" dirty="0"/>
          </a:p>
        </p:txBody>
      </p:sp>
      <p:sp>
        <p:nvSpPr>
          <p:cNvPr id="73" name="Text 71"/>
          <p:cNvSpPr/>
          <p:nvPr/>
        </p:nvSpPr>
        <p:spPr>
          <a:xfrm>
            <a:off x="1417320" y="433425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</a:t>
            </a:r>
            <a:endParaRPr lang="en-US" sz="630" dirty="0"/>
          </a:p>
        </p:txBody>
      </p:sp>
      <p:sp>
        <p:nvSpPr>
          <p:cNvPr id="74" name="Text 72"/>
          <p:cNvSpPr/>
          <p:nvPr/>
        </p:nvSpPr>
        <p:spPr>
          <a:xfrm>
            <a:off x="2743200" y="430682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Get Data &gt; Folder + Combine Files + inspect helper queries.</a:t>
            </a:r>
            <a:endParaRPr lang="en-US" sz="725" dirty="0"/>
          </a:p>
        </p:txBody>
      </p:sp>
      <p:sp>
        <p:nvSpPr>
          <p:cNvPr id="75" name="Shape 73"/>
          <p:cNvSpPr/>
          <p:nvPr/>
        </p:nvSpPr>
        <p:spPr>
          <a:xfrm>
            <a:off x="475488" y="5111496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" y="5330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30–45</a:t>
            </a:r>
            <a:endParaRPr lang="en-US" sz="920" dirty="0"/>
          </a:p>
        </p:txBody>
      </p:sp>
      <p:sp>
        <p:nvSpPr>
          <p:cNvPr id="77" name="Text 75"/>
          <p:cNvSpPr/>
          <p:nvPr/>
        </p:nvSpPr>
        <p:spPr>
          <a:xfrm>
            <a:off x="1417320" y="526694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NAME</a:t>
            </a:r>
            <a:endParaRPr lang="en-US" sz="630" dirty="0"/>
          </a:p>
        </p:txBody>
      </p:sp>
      <p:sp>
        <p:nvSpPr>
          <p:cNvPr id="78" name="Text 76"/>
          <p:cNvSpPr/>
          <p:nvPr/>
        </p:nvSpPr>
        <p:spPr>
          <a:xfrm>
            <a:off x="2743200" y="523951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احتفظ Source File Name واشرح لماذا يفيد في QA.</a:t>
            </a:r>
            <a:endParaRPr lang="en-US" sz="725" dirty="0"/>
          </a:p>
        </p:txBody>
      </p:sp>
      <p:sp>
        <p:nvSpPr>
          <p:cNvPr id="79" name="Shape 77"/>
          <p:cNvSpPr/>
          <p:nvPr/>
        </p:nvSpPr>
        <p:spPr>
          <a:xfrm>
            <a:off x="475488" y="6044184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8368" y="62636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45–70</a:t>
            </a:r>
            <a:endParaRPr lang="en-US" sz="920" dirty="0"/>
          </a:p>
        </p:txBody>
      </p:sp>
      <p:sp>
        <p:nvSpPr>
          <p:cNvPr id="81" name="Text 79"/>
          <p:cNvSpPr/>
          <p:nvPr/>
        </p:nvSpPr>
        <p:spPr>
          <a:xfrm>
            <a:off x="1417320" y="61996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</a:t>
            </a:r>
            <a:endParaRPr lang="en-US" sz="630" dirty="0"/>
          </a:p>
        </p:txBody>
      </p:sp>
      <p:sp>
        <p:nvSpPr>
          <p:cNvPr id="82" name="Text 80"/>
          <p:cNvSpPr/>
          <p:nvPr/>
        </p:nvSpPr>
        <p:spPr>
          <a:xfrm>
            <a:off x="2743200" y="61722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Branch Master → Customer Master → Product Master.</a:t>
            </a:r>
            <a:endParaRPr lang="en-US" sz="725" dirty="0"/>
          </a:p>
        </p:txBody>
      </p:sp>
      <p:sp>
        <p:nvSpPr>
          <p:cNvPr id="83" name="Shape 81"/>
          <p:cNvSpPr/>
          <p:nvPr/>
        </p:nvSpPr>
        <p:spPr>
          <a:xfrm>
            <a:off x="475488" y="6976872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8368" y="71963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70–85</a:t>
            </a:r>
            <a:endParaRPr lang="en-US" sz="920" dirty="0"/>
          </a:p>
        </p:txBody>
      </p:sp>
      <p:sp>
        <p:nvSpPr>
          <p:cNvPr id="85" name="Text 83"/>
          <p:cNvSpPr/>
          <p:nvPr/>
        </p:nvSpPr>
        <p:spPr>
          <a:xfrm>
            <a:off x="1417320" y="71323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630" dirty="0"/>
          </a:p>
        </p:txBody>
      </p:sp>
      <p:sp>
        <p:nvSpPr>
          <p:cNvPr id="86" name="Text 84"/>
          <p:cNvSpPr/>
          <p:nvPr/>
        </p:nvSpPr>
        <p:spPr>
          <a:xfrm>
            <a:off x="2743200" y="71048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Duplicate vs Reference + staging logic.</a:t>
            </a:r>
            <a:endParaRPr lang="en-US" sz="725" dirty="0"/>
          </a:p>
        </p:txBody>
      </p:sp>
      <p:sp>
        <p:nvSpPr>
          <p:cNvPr id="87" name="Shape 85"/>
          <p:cNvSpPr/>
          <p:nvPr/>
        </p:nvSpPr>
        <p:spPr>
          <a:xfrm>
            <a:off x="475488" y="7909560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8368" y="81290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85–100</a:t>
            </a:r>
            <a:endParaRPr lang="en-US" sz="920" dirty="0"/>
          </a:p>
        </p:txBody>
      </p:sp>
      <p:sp>
        <p:nvSpPr>
          <p:cNvPr id="89" name="Text 87"/>
          <p:cNvSpPr/>
          <p:nvPr/>
        </p:nvSpPr>
        <p:spPr>
          <a:xfrm>
            <a:off x="1417320" y="806500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</a:t>
            </a:r>
            <a:endParaRPr lang="en-US" sz="630" dirty="0"/>
          </a:p>
        </p:txBody>
      </p:sp>
      <p:sp>
        <p:nvSpPr>
          <p:cNvPr id="90" name="Text 88"/>
          <p:cNvSpPr/>
          <p:nvPr/>
        </p:nvSpPr>
        <p:spPr>
          <a:xfrm>
            <a:off x="2743200" y="80375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Disable Load للـstaging. اترك final analytical query فقط.</a:t>
            </a:r>
            <a:endParaRPr lang="en-US" sz="725" dirty="0"/>
          </a:p>
        </p:txBody>
      </p:sp>
      <p:sp>
        <p:nvSpPr>
          <p:cNvPr id="91" name="Shape 89"/>
          <p:cNvSpPr/>
          <p:nvPr/>
        </p:nvSpPr>
        <p:spPr>
          <a:xfrm>
            <a:off x="475488" y="8842248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8368" y="90617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100–112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1417320" y="899769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PROOF</a:t>
            </a:r>
            <a:endParaRPr lang="en-US" sz="630" dirty="0"/>
          </a:p>
        </p:txBody>
      </p:sp>
      <p:sp>
        <p:nvSpPr>
          <p:cNvPr id="94" name="Text 92"/>
          <p:cNvSpPr/>
          <p:nvPr/>
        </p:nvSpPr>
        <p:spPr>
          <a:xfrm>
            <a:off x="2743200" y="89702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Drop April file into Folder → Refresh → verify new rows.</a:t>
            </a:r>
            <a:endParaRPr lang="en-US" sz="725" dirty="0"/>
          </a:p>
        </p:txBody>
      </p:sp>
      <p:sp>
        <p:nvSpPr>
          <p:cNvPr id="95" name="Shape 93"/>
          <p:cNvSpPr/>
          <p:nvPr/>
        </p:nvSpPr>
        <p:spPr>
          <a:xfrm>
            <a:off x="475488" y="9774936"/>
            <a:ext cx="5907024" cy="841248"/>
          </a:xfrm>
          <a:prstGeom prst="roundRect">
            <a:avLst>
              <a:gd name="adj" fmla="val 15217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8368" y="99943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112–120</a:t>
            </a:r>
            <a:endParaRPr lang="en-US" sz="920" dirty="0"/>
          </a:p>
        </p:txBody>
      </p:sp>
      <p:sp>
        <p:nvSpPr>
          <p:cNvPr id="97" name="Text 95"/>
          <p:cNvSpPr/>
          <p:nvPr/>
        </p:nvSpPr>
        <p:spPr>
          <a:xfrm>
            <a:off x="1417320" y="993038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630" dirty="0"/>
          </a:p>
        </p:txBody>
      </p:sp>
      <p:sp>
        <p:nvSpPr>
          <p:cNvPr id="98" name="Text 96"/>
          <p:cNvSpPr/>
          <p:nvPr/>
        </p:nvSpPr>
        <p:spPr>
          <a:xfrm>
            <a:off x="2743200" y="99029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25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اربط الفكرة بالشهر القادم + deliverable check.</a:t>
            </a:r>
            <a:endParaRPr lang="en-US" sz="7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695CFF">
              <a:alpha val="8000"/>
            </a:srgbClr>
          </a:solidFill>
          <a:ln w="12700">
            <a:solidFill>
              <a:srgbClr val="695C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 • AUTOMATE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ARCHITECTURE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الصورة التي ترسمها لهم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خليهم يفهموا الـflow بصرياً قبل التفاصيل التقنية.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676656" y="3474720"/>
            <a:ext cx="1444752" cy="1152144"/>
          </a:xfrm>
          <a:prstGeom prst="roundRect">
            <a:avLst>
              <a:gd name="adj" fmla="val 11111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4672" y="3602736"/>
            <a:ext cx="411480" cy="292608"/>
          </a:xfrm>
          <a:prstGeom prst="roundRect">
            <a:avLst>
              <a:gd name="adj" fmla="val 43750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0392" y="36713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10" dirty="0"/>
          </a:p>
        </p:txBody>
      </p:sp>
      <p:sp>
        <p:nvSpPr>
          <p:cNvPr id="70" name="Text 68"/>
          <p:cNvSpPr/>
          <p:nvPr/>
        </p:nvSpPr>
        <p:spPr>
          <a:xfrm>
            <a:off x="804672" y="403250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FILES</a:t>
            </a:r>
            <a:endParaRPr lang="en-US" sz="610" dirty="0"/>
          </a:p>
        </p:txBody>
      </p:sp>
      <p:sp>
        <p:nvSpPr>
          <p:cNvPr id="71" name="Text 69"/>
          <p:cNvSpPr/>
          <p:nvPr/>
        </p:nvSpPr>
        <p:spPr>
          <a:xfrm>
            <a:off x="804672" y="42976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98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• Feb • Mar</a:t>
            </a:r>
            <a:endParaRPr lang="en-US" sz="560" dirty="0"/>
          </a:p>
        </p:txBody>
      </p:sp>
      <p:sp>
        <p:nvSpPr>
          <p:cNvPr id="72" name="Shape 70"/>
          <p:cNvSpPr/>
          <p:nvPr/>
        </p:nvSpPr>
        <p:spPr>
          <a:xfrm>
            <a:off x="2423160" y="3474720"/>
            <a:ext cx="1444752" cy="1152144"/>
          </a:xfrm>
          <a:prstGeom prst="roundRect">
            <a:avLst>
              <a:gd name="adj" fmla="val 11111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551176" y="3602736"/>
            <a:ext cx="411480" cy="292608"/>
          </a:xfrm>
          <a:prstGeom prst="roundRect">
            <a:avLst>
              <a:gd name="adj" fmla="val 43750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96896" y="36713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10" dirty="0"/>
          </a:p>
        </p:txBody>
      </p:sp>
      <p:sp>
        <p:nvSpPr>
          <p:cNvPr id="75" name="Text 73"/>
          <p:cNvSpPr/>
          <p:nvPr/>
        </p:nvSpPr>
        <p:spPr>
          <a:xfrm>
            <a:off x="2551176" y="403250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 QUERY</a:t>
            </a:r>
            <a:endParaRPr lang="en-US" sz="610" dirty="0"/>
          </a:p>
        </p:txBody>
      </p:sp>
      <p:sp>
        <p:nvSpPr>
          <p:cNvPr id="76" name="Text 74"/>
          <p:cNvSpPr/>
          <p:nvPr/>
        </p:nvSpPr>
        <p:spPr>
          <a:xfrm>
            <a:off x="2551176" y="42976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98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+ clean</a:t>
            </a:r>
            <a:endParaRPr lang="en-US" sz="560" dirty="0"/>
          </a:p>
        </p:txBody>
      </p:sp>
      <p:sp>
        <p:nvSpPr>
          <p:cNvPr id="77" name="Shape 75"/>
          <p:cNvSpPr/>
          <p:nvPr/>
        </p:nvSpPr>
        <p:spPr>
          <a:xfrm>
            <a:off x="4169664" y="3474720"/>
            <a:ext cx="1444752" cy="1152144"/>
          </a:xfrm>
          <a:prstGeom prst="roundRect">
            <a:avLst>
              <a:gd name="adj" fmla="val 11111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97680" y="3602736"/>
            <a:ext cx="411480" cy="292608"/>
          </a:xfrm>
          <a:prstGeom prst="roundRect">
            <a:avLst>
              <a:gd name="adj" fmla="val 43750"/>
            </a:avLst>
          </a:prstGeom>
          <a:solidFill>
            <a:srgbClr val="695CFF"/>
          </a:solidFill>
          <a:ln w="8890">
            <a:solidFill>
              <a:srgbClr val="695C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43400" y="36713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10" dirty="0"/>
          </a:p>
        </p:txBody>
      </p:sp>
      <p:sp>
        <p:nvSpPr>
          <p:cNvPr id="80" name="Text 78"/>
          <p:cNvSpPr/>
          <p:nvPr/>
        </p:nvSpPr>
        <p:spPr>
          <a:xfrm>
            <a:off x="4297680" y="403250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SALES</a:t>
            </a:r>
            <a:endParaRPr lang="en-US" sz="610" dirty="0"/>
          </a:p>
        </p:txBody>
      </p:sp>
      <p:sp>
        <p:nvSpPr>
          <p:cNvPr id="81" name="Text 79"/>
          <p:cNvSpPr/>
          <p:nvPr/>
        </p:nvSpPr>
        <p:spPr>
          <a:xfrm>
            <a:off x="4297680" y="42976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98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analytical table</a:t>
            </a:r>
            <a:endParaRPr lang="en-US" sz="560" dirty="0"/>
          </a:p>
        </p:txBody>
      </p:sp>
      <p:sp>
        <p:nvSpPr>
          <p:cNvPr id="82" name="Shape 80"/>
          <p:cNvSpPr/>
          <p:nvPr/>
        </p:nvSpPr>
        <p:spPr>
          <a:xfrm>
            <a:off x="2130552" y="3849624"/>
            <a:ext cx="228600" cy="384048"/>
          </a:xfrm>
          <a:prstGeom prst="chevron">
            <a:avLst/>
          </a:prstGeom>
          <a:solidFill>
            <a:srgbClr val="2A2D33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77056" y="3849624"/>
            <a:ext cx="228600" cy="384048"/>
          </a:xfrm>
          <a:prstGeom prst="chevron">
            <a:avLst/>
          </a:prstGeom>
          <a:solidFill>
            <a:srgbClr val="2A2D33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6656" y="5074920"/>
            <a:ext cx="4937760" cy="2066544"/>
          </a:xfrm>
          <a:prstGeom prst="roundRect">
            <a:avLst>
              <a:gd name="adj" fmla="val 6195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96112" y="535838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MASTERS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896112" y="5824728"/>
            <a:ext cx="1298448" cy="822960"/>
          </a:xfrm>
          <a:prstGeom prst="roundRect">
            <a:avLst>
              <a:gd name="adj" fmla="val 15556"/>
            </a:avLst>
          </a:prstGeom>
          <a:solidFill>
            <a:srgbClr val="14161A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87552" y="600760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</a:t>
            </a:r>
            <a:endParaRPr lang="en-US" sz="610" dirty="0"/>
          </a:p>
        </p:txBody>
      </p:sp>
      <p:sp>
        <p:nvSpPr>
          <p:cNvPr id="88" name="Text 86"/>
          <p:cNvSpPr/>
          <p:nvPr/>
        </p:nvSpPr>
        <p:spPr>
          <a:xfrm>
            <a:off x="960120" y="6291072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98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• Manager</a:t>
            </a:r>
            <a:endParaRPr lang="en-US" sz="510" dirty="0"/>
          </a:p>
        </p:txBody>
      </p:sp>
      <p:sp>
        <p:nvSpPr>
          <p:cNvPr id="89" name="Shape 87"/>
          <p:cNvSpPr/>
          <p:nvPr/>
        </p:nvSpPr>
        <p:spPr>
          <a:xfrm>
            <a:off x="2386584" y="5824728"/>
            <a:ext cx="1298448" cy="822960"/>
          </a:xfrm>
          <a:prstGeom prst="roundRect">
            <a:avLst>
              <a:gd name="adj" fmla="val 15556"/>
            </a:avLst>
          </a:prstGeom>
          <a:solidFill>
            <a:srgbClr val="14161A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478024" y="600760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</a:t>
            </a:r>
            <a:endParaRPr lang="en-US" sz="610" dirty="0"/>
          </a:p>
        </p:txBody>
      </p:sp>
      <p:sp>
        <p:nvSpPr>
          <p:cNvPr id="91" name="Text 89"/>
          <p:cNvSpPr/>
          <p:nvPr/>
        </p:nvSpPr>
        <p:spPr>
          <a:xfrm>
            <a:off x="2450592" y="6291072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98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• Type</a:t>
            </a:r>
            <a:endParaRPr lang="en-US" sz="510" dirty="0"/>
          </a:p>
        </p:txBody>
      </p:sp>
      <p:sp>
        <p:nvSpPr>
          <p:cNvPr id="92" name="Shape 90"/>
          <p:cNvSpPr/>
          <p:nvPr/>
        </p:nvSpPr>
        <p:spPr>
          <a:xfrm>
            <a:off x="3877056" y="5824728"/>
            <a:ext cx="1298448" cy="822960"/>
          </a:xfrm>
          <a:prstGeom prst="roundRect">
            <a:avLst>
              <a:gd name="adj" fmla="val 15556"/>
            </a:avLst>
          </a:prstGeom>
          <a:solidFill>
            <a:srgbClr val="14161A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968496" y="600760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610" dirty="0"/>
          </a:p>
        </p:txBody>
      </p:sp>
      <p:sp>
        <p:nvSpPr>
          <p:cNvPr id="94" name="Text 92"/>
          <p:cNvSpPr/>
          <p:nvPr/>
        </p:nvSpPr>
        <p:spPr>
          <a:xfrm>
            <a:off x="3941064" y="6291072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98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• Brand</a:t>
            </a:r>
            <a:endParaRPr lang="en-US" sz="510" dirty="0"/>
          </a:p>
        </p:txBody>
      </p:sp>
      <p:sp>
        <p:nvSpPr>
          <p:cNvPr id="95" name="Shape 93"/>
          <p:cNvSpPr/>
          <p:nvPr/>
        </p:nvSpPr>
        <p:spPr>
          <a:xfrm>
            <a:off x="676656" y="7479792"/>
            <a:ext cx="4937760" cy="1097280"/>
          </a:xfrm>
          <a:prstGeom prst="roundRect">
            <a:avLst>
              <a:gd name="adj" fmla="val 11667"/>
            </a:avLst>
          </a:prstGeom>
          <a:solidFill>
            <a:srgbClr val="111917"/>
          </a:solidFill>
          <a:ln w="8890">
            <a:solidFill>
              <a:srgbClr val="24543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96112" y="77541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50BE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APRIL.csv</a:t>
            </a:r>
            <a:endParaRPr lang="en-US" sz="820" dirty="0"/>
          </a:p>
        </p:txBody>
      </p:sp>
      <p:sp>
        <p:nvSpPr>
          <p:cNvPr id="97" name="Text 95"/>
          <p:cNvSpPr/>
          <p:nvPr/>
        </p:nvSpPr>
        <p:spPr>
          <a:xfrm>
            <a:off x="1965960" y="76352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D5E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into folder → Refresh → rows appear</a:t>
            </a:r>
            <a:endParaRPr lang="en-US" sz="760" dirty="0"/>
          </a:p>
        </p:txBody>
      </p:sp>
      <p:sp>
        <p:nvSpPr>
          <p:cNvPr id="98" name="Text 96"/>
          <p:cNvSpPr/>
          <p:nvPr/>
        </p:nvSpPr>
        <p:spPr>
          <a:xfrm>
            <a:off x="1965960" y="797356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60" b="1" dirty="0">
                <a:solidFill>
                  <a:srgbClr val="D5ECD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بدون Copy / Paste</a:t>
            </a:r>
            <a:endParaRPr lang="en-US" sz="760" dirty="0"/>
          </a:p>
        </p:txBody>
      </p:sp>
      <p:sp>
        <p:nvSpPr>
          <p:cNvPr id="99" name="Shape 97"/>
          <p:cNvSpPr/>
          <p:nvPr/>
        </p:nvSpPr>
        <p:spPr>
          <a:xfrm>
            <a:off x="676656" y="8924544"/>
            <a:ext cx="4937760" cy="1554480"/>
          </a:xfrm>
          <a:prstGeom prst="roundRect">
            <a:avLst>
              <a:gd name="adj" fmla="val 8235"/>
            </a:avLst>
          </a:prstGeom>
          <a:solidFill>
            <a:srgbClr val="171420"/>
          </a:solidFill>
          <a:ln w="8890">
            <a:solidFill>
              <a:srgbClr val="4B426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96112" y="91897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695C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Deliverable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896112" y="961948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Nova monthly Sales pipeline قابلة للـRefresh وجاهزة للأشهر القادمة، مع Masters موحدة.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F2C811">
              <a:alpha val="8000"/>
            </a:srgbClr>
          </a:solidFill>
          <a:ln w="12700">
            <a:solidFill>
              <a:srgbClr val="F2C811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01 • MATERIALS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 MATERIAL MATRIX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كل الروابط في صفحة واحدة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إذا ضعت أثناء الجلسة، افتح المطلوب من هنا مباشرة.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475488" y="3246120"/>
            <a:ext cx="5907024" cy="804672"/>
          </a:xfrm>
          <a:prstGeom prst="roundRect">
            <a:avLst>
              <a:gd name="adj" fmla="val 15909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368" y="3456432"/>
            <a:ext cx="859536" cy="292608"/>
          </a:xfrm>
          <a:prstGeom prst="roundRect">
            <a:avLst>
              <a:gd name="adj" fmla="val 43750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4088" y="3525012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SESSION</a:t>
            </a:r>
            <a:endParaRPr lang="en-US" sz="610" dirty="0"/>
          </a:p>
        </p:txBody>
      </p:sp>
      <p:sp>
        <p:nvSpPr>
          <p:cNvPr id="70" name="Text 68"/>
          <p:cNvSpPr/>
          <p:nvPr/>
        </p:nvSpPr>
        <p:spPr>
          <a:xfrm>
            <a:off x="1664208" y="343814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Teams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358384" y="3429000"/>
            <a:ext cx="768096" cy="438912"/>
          </a:xfrm>
          <a:prstGeom prst="roundRect">
            <a:avLst>
              <a:gd name="adj" fmla="val 29167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49824" y="3557016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73" name="Shape 71">
            <a:hlinkClick r:id="rId1" tooltip=""/>
          </p:cNvPr>
          <p:cNvSpPr/>
          <p:nvPr/>
        </p:nvSpPr>
        <p:spPr>
          <a:xfrm>
            <a:off x="5358384" y="3429000"/>
            <a:ext cx="76809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5488" y="4151376"/>
            <a:ext cx="5907024" cy="804672"/>
          </a:xfrm>
          <a:prstGeom prst="roundRect">
            <a:avLst>
              <a:gd name="adj" fmla="val 15909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8368" y="4361688"/>
            <a:ext cx="859536" cy="292608"/>
          </a:xfrm>
          <a:prstGeom prst="roundRect">
            <a:avLst>
              <a:gd name="adj" fmla="val 43750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4088" y="4430268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HUB</a:t>
            </a:r>
            <a:endParaRPr lang="en-US" sz="610" dirty="0"/>
          </a:p>
        </p:txBody>
      </p:sp>
      <p:sp>
        <p:nvSpPr>
          <p:cNvPr id="77" name="Text 75"/>
          <p:cNvSpPr/>
          <p:nvPr/>
        </p:nvSpPr>
        <p:spPr>
          <a:xfrm>
            <a:off x="1664208" y="4343400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site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358384" y="4334256"/>
            <a:ext cx="768096" cy="438912"/>
          </a:xfrm>
          <a:prstGeom prst="roundRect">
            <a:avLst>
              <a:gd name="adj" fmla="val 29167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49824" y="446227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80" name="Shape 78">
            <a:hlinkClick r:id="rId2" tooltip=""/>
          </p:cNvPr>
          <p:cNvSpPr/>
          <p:nvPr/>
        </p:nvSpPr>
        <p:spPr>
          <a:xfrm>
            <a:off x="5358384" y="4334256"/>
            <a:ext cx="76809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5488" y="5056632"/>
            <a:ext cx="5907024" cy="804672"/>
          </a:xfrm>
          <a:prstGeom prst="roundRect">
            <a:avLst>
              <a:gd name="adj" fmla="val 15909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8368" y="5266944"/>
            <a:ext cx="859536" cy="292608"/>
          </a:xfrm>
          <a:prstGeom prst="roundRect">
            <a:avLst>
              <a:gd name="adj" fmla="val 43750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4088" y="533552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610" dirty="0"/>
          </a:p>
        </p:txBody>
      </p:sp>
      <p:sp>
        <p:nvSpPr>
          <p:cNvPr id="84" name="Text 82"/>
          <p:cNvSpPr/>
          <p:nvPr/>
        </p:nvSpPr>
        <p:spPr>
          <a:xfrm>
            <a:off x="1664208" y="5248656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Nova — Company Profile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5358384" y="5239512"/>
            <a:ext cx="768096" cy="438912"/>
          </a:xfrm>
          <a:prstGeom prst="roundRect">
            <a:avLst>
              <a:gd name="adj" fmla="val 29167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49824" y="536752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87" name="Shape 85">
            <a:hlinkClick r:id="rId3" tooltip=""/>
          </p:cNvPr>
          <p:cNvSpPr/>
          <p:nvPr/>
        </p:nvSpPr>
        <p:spPr>
          <a:xfrm>
            <a:off x="5358384" y="5239512"/>
            <a:ext cx="76809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5488" y="5961888"/>
            <a:ext cx="5907024" cy="804672"/>
          </a:xfrm>
          <a:prstGeom prst="roundRect">
            <a:avLst>
              <a:gd name="adj" fmla="val 15909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8368" y="6172200"/>
            <a:ext cx="859536" cy="292608"/>
          </a:xfrm>
          <a:prstGeom prst="roundRect">
            <a:avLst>
              <a:gd name="adj" fmla="val 43750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04088" y="6240780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610" dirty="0"/>
          </a:p>
        </p:txBody>
      </p:sp>
      <p:sp>
        <p:nvSpPr>
          <p:cNvPr id="91" name="Text 89"/>
          <p:cNvSpPr/>
          <p:nvPr/>
        </p:nvSpPr>
        <p:spPr>
          <a:xfrm>
            <a:off x="1664208" y="615391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Desktop Download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358384" y="6144768"/>
            <a:ext cx="768096" cy="438912"/>
          </a:xfrm>
          <a:prstGeom prst="roundRect">
            <a:avLst>
              <a:gd name="adj" fmla="val 29167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49824" y="6272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94" name="Shape 92">
            <a:hlinkClick r:id="rId4" tooltip=""/>
          </p:cNvPr>
          <p:cNvSpPr/>
          <p:nvPr/>
        </p:nvSpPr>
        <p:spPr>
          <a:xfrm>
            <a:off x="5358384" y="6144768"/>
            <a:ext cx="76809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867144"/>
            <a:ext cx="5907024" cy="804672"/>
          </a:xfrm>
          <a:prstGeom prst="roundRect">
            <a:avLst>
              <a:gd name="adj" fmla="val 15909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58368" y="7077456"/>
            <a:ext cx="859536" cy="292608"/>
          </a:xfrm>
          <a:prstGeom prst="roundRect">
            <a:avLst>
              <a:gd name="adj" fmla="val 43750"/>
            </a:avLst>
          </a:prstGeom>
          <a:solidFill>
            <a:srgbClr val="695CFF"/>
          </a:solidFill>
          <a:ln w="8890">
            <a:solidFill>
              <a:srgbClr val="695C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04088" y="7146036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610" dirty="0"/>
          </a:p>
        </p:txBody>
      </p:sp>
      <p:sp>
        <p:nvSpPr>
          <p:cNvPr id="98" name="Text 96"/>
          <p:cNvSpPr/>
          <p:nvPr/>
        </p:nvSpPr>
        <p:spPr>
          <a:xfrm>
            <a:off x="1664208" y="7059168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Source Pack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5358384" y="7050024"/>
            <a:ext cx="768096" cy="438912"/>
          </a:xfrm>
          <a:prstGeom prst="roundRect">
            <a:avLst>
              <a:gd name="adj" fmla="val 29167"/>
            </a:avLst>
          </a:prstGeom>
          <a:solidFill>
            <a:srgbClr val="695CFF"/>
          </a:solidFill>
          <a:ln w="8890">
            <a:solidFill>
              <a:srgbClr val="695C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449824" y="7178040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101" name="Shape 99">
            <a:hlinkClick r:id="rId5" tooltip=""/>
          </p:cNvPr>
          <p:cNvSpPr/>
          <p:nvPr/>
        </p:nvSpPr>
        <p:spPr>
          <a:xfrm>
            <a:off x="5358384" y="7050024"/>
            <a:ext cx="76809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75488" y="7772400"/>
            <a:ext cx="5907024" cy="804672"/>
          </a:xfrm>
          <a:prstGeom prst="roundRect">
            <a:avLst>
              <a:gd name="adj" fmla="val 15909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58368" y="7982712"/>
            <a:ext cx="859536" cy="292608"/>
          </a:xfrm>
          <a:prstGeom prst="roundRect">
            <a:avLst>
              <a:gd name="adj" fmla="val 43750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04088" y="8051292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610" dirty="0"/>
          </a:p>
        </p:txBody>
      </p:sp>
      <p:sp>
        <p:nvSpPr>
          <p:cNvPr id="105" name="Text 103"/>
          <p:cNvSpPr/>
          <p:nvPr/>
        </p:nvSpPr>
        <p:spPr>
          <a:xfrm>
            <a:off x="1664208" y="796442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Performance Web Source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5358384" y="7955280"/>
            <a:ext cx="768096" cy="438912"/>
          </a:xfrm>
          <a:prstGeom prst="roundRect">
            <a:avLst>
              <a:gd name="adj" fmla="val 29167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449824" y="8083296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108" name="Shape 106">
            <a:hlinkClick r:id="rId6" tooltip=""/>
          </p:cNvPr>
          <p:cNvSpPr/>
          <p:nvPr/>
        </p:nvSpPr>
        <p:spPr>
          <a:xfrm>
            <a:off x="5358384" y="7955280"/>
            <a:ext cx="76809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5488" y="8677656"/>
            <a:ext cx="5907024" cy="804672"/>
          </a:xfrm>
          <a:prstGeom prst="roundRect">
            <a:avLst>
              <a:gd name="adj" fmla="val 15909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58368" y="8887968"/>
            <a:ext cx="859536" cy="292608"/>
          </a:xfrm>
          <a:prstGeom prst="roundRect">
            <a:avLst>
              <a:gd name="adj" fmla="val 43750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04088" y="8956548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</a:t>
            </a:r>
            <a:endParaRPr lang="en-US" sz="610" dirty="0"/>
          </a:p>
        </p:txBody>
      </p:sp>
      <p:sp>
        <p:nvSpPr>
          <p:cNvPr id="112" name="Text 110"/>
          <p:cNvSpPr/>
          <p:nvPr/>
        </p:nvSpPr>
        <p:spPr>
          <a:xfrm>
            <a:off x="1664208" y="8869680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Cleaning Lab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5358384" y="8860536"/>
            <a:ext cx="768096" cy="438912"/>
          </a:xfrm>
          <a:prstGeom prst="roundRect">
            <a:avLst>
              <a:gd name="adj" fmla="val 29167"/>
            </a:avLst>
          </a:prstGeom>
          <a:solidFill>
            <a:srgbClr val="099999"/>
          </a:solidFill>
          <a:ln w="8890">
            <a:solidFill>
              <a:srgbClr val="09999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449824" y="898855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115" name="Shape 113">
            <a:hlinkClick r:id="rId7" tooltip=""/>
          </p:cNvPr>
          <p:cNvSpPr/>
          <p:nvPr/>
        </p:nvSpPr>
        <p:spPr>
          <a:xfrm>
            <a:off x="5358384" y="8860536"/>
            <a:ext cx="76809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75488" y="9582912"/>
            <a:ext cx="5907024" cy="804672"/>
          </a:xfrm>
          <a:prstGeom prst="roundRect">
            <a:avLst>
              <a:gd name="adj" fmla="val 15909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58368" y="9793224"/>
            <a:ext cx="859536" cy="292608"/>
          </a:xfrm>
          <a:prstGeom prst="roundRect">
            <a:avLst>
              <a:gd name="adj" fmla="val 43750"/>
            </a:avLst>
          </a:prstGeom>
          <a:solidFill>
            <a:srgbClr val="695CFF"/>
          </a:solidFill>
          <a:ln w="8890">
            <a:solidFill>
              <a:srgbClr val="695C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04088" y="986180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</a:t>
            </a:r>
            <a:endParaRPr lang="en-US" sz="610" dirty="0"/>
          </a:p>
        </p:txBody>
      </p:sp>
      <p:sp>
        <p:nvSpPr>
          <p:cNvPr id="119" name="Text 117"/>
          <p:cNvSpPr/>
          <p:nvPr/>
        </p:nvSpPr>
        <p:spPr>
          <a:xfrm>
            <a:off x="1664208" y="9774936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Automation Pack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5358384" y="9765792"/>
            <a:ext cx="768096" cy="438912"/>
          </a:xfrm>
          <a:prstGeom prst="roundRect">
            <a:avLst>
              <a:gd name="adj" fmla="val 29167"/>
            </a:avLst>
          </a:prstGeom>
          <a:solidFill>
            <a:srgbClr val="695CFF"/>
          </a:solidFill>
          <a:ln w="8890">
            <a:solidFill>
              <a:srgbClr val="695C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449824" y="989380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122" name="Shape 120">
            <a:hlinkClick r:id="rId8" tooltip=""/>
          </p:cNvPr>
          <p:cNvSpPr/>
          <p:nvPr/>
        </p:nvSpPr>
        <p:spPr>
          <a:xfrm>
            <a:off x="5358384" y="9765792"/>
            <a:ext cx="768096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" y="10698480"/>
            <a:ext cx="5907024" cy="566928"/>
          </a:xfrm>
          <a:prstGeom prst="roundRect">
            <a:avLst>
              <a:gd name="adj" fmla="val 22581"/>
            </a:avLst>
          </a:prstGeom>
          <a:solidFill>
            <a:srgbClr val="14181A"/>
          </a:solidFill>
          <a:ln w="8890">
            <a:solidFill>
              <a:srgbClr val="245253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58368" y="10872216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DE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baselghanem.github.io/PowerBi-Intro/Trainer/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12191695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40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7680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1521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5361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9202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3042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68833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07238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45643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84048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2452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0857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9262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37667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76072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4476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2881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91286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29691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768096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06500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44905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883310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21715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960120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998524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0369296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10753344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11137392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1521440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11905488"/>
            <a:ext cx="6858000" cy="0"/>
          </a:xfrm>
          <a:prstGeom prst="line">
            <a:avLst/>
          </a:prstGeom>
          <a:noFill/>
          <a:ln w="5715">
            <a:solidFill>
              <a:srgbClr val="191B1F">
                <a:alpha val="4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-914400"/>
            <a:ext cx="3291840" cy="3291840"/>
          </a:xfrm>
          <a:prstGeom prst="ellipse">
            <a:avLst/>
          </a:prstGeom>
          <a:solidFill>
            <a:srgbClr val="F2C811">
              <a:alpha val="8000"/>
            </a:srgbClr>
          </a:solidFill>
          <a:ln w="12700">
            <a:solidFill>
              <a:srgbClr val="F2C811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-1463040" y="9052560"/>
            <a:ext cx="2926080" cy="2926080"/>
          </a:xfrm>
          <a:prstGeom prst="ellipse">
            <a:avLst/>
          </a:prstGeom>
          <a:solidFill>
            <a:srgbClr val="099999">
              <a:alpha val="5000"/>
            </a:srgbClr>
          </a:solidFill>
          <a:ln w="12700">
            <a:solidFill>
              <a:srgbClr val="0999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384048"/>
            <a:ext cx="393192" cy="393192"/>
          </a:xfrm>
          <a:prstGeom prst="round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559979"/>
            <a:ext cx="50292" cy="12582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" y="481340"/>
            <a:ext cx="50292" cy="204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" y="402702"/>
            <a:ext cx="50292" cy="28309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384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4400" y="612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TO DECISION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069080" y="4480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01 • CLOSEOUT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38912" y="950976"/>
            <a:ext cx="5980176" cy="0"/>
          </a:xfrm>
          <a:prstGeom prst="line">
            <a:avLst/>
          </a:prstGeom>
          <a:noFill/>
          <a:ln w="10160">
            <a:solidFill>
              <a:srgbClr val="2A2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117226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5989320" y="11631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F7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5488" y="123444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2C8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WEEK 01</a:t>
            </a:r>
            <a:endParaRPr lang="en-US" sz="710" dirty="0"/>
          </a:p>
        </p:txBody>
      </p:sp>
      <p:sp>
        <p:nvSpPr>
          <p:cNvPr id="65" name="Text 63"/>
          <p:cNvSpPr/>
          <p:nvPr/>
        </p:nvSpPr>
        <p:spPr>
          <a:xfrm>
            <a:off x="475488" y="15453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ماذا يجب أن يكون موجوداً عند نهاية الأربعاء؟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475488" y="239572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30" dirty="0">
                <a:solidFill>
                  <a:srgbClr val="98A1AD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هذه هي QA checklist قبل أن تعتبر الأسبوع الأول مغلقاً.</a:t>
            </a:r>
            <a:endParaRPr lang="en-US" sz="1030" dirty="0"/>
          </a:p>
        </p:txBody>
      </p:sp>
      <p:sp>
        <p:nvSpPr>
          <p:cNvPr id="67" name="Shape 65"/>
          <p:cNvSpPr/>
          <p:nvPr/>
        </p:nvSpPr>
        <p:spPr>
          <a:xfrm>
            <a:off x="475488" y="3200400"/>
            <a:ext cx="5907024" cy="2926080"/>
          </a:xfrm>
          <a:prstGeom prst="roundRect">
            <a:avLst>
              <a:gd name="adj" fmla="val 4375"/>
            </a:avLst>
          </a:prstGeom>
          <a:solidFill>
            <a:srgbClr val="17191E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232" y="347472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F2C81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LEARNER SHOULD HAVE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31520" y="3913632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398221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1143000" y="39182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PBIX محفوظ باسم واضح من Day 1 ويعرف أين يوجد.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31520" y="4306824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43754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1143000" y="431139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فهم عملي لـ ETL وReport/Data/Model views.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31520" y="4700016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1520" y="476859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1143000" y="470458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قدرة على تنظيف Dataset مع Grain واضح وقرارات مبررة.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31520" y="5093208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1520" y="51617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1143000" y="509778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Folder pipeline تجمع ملفات شهرية بشكل تلقائي.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31520" y="5486400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1520" y="55549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1143000" y="549097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Merge مع Branch / Customer / Product Masters.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731520" y="5879592"/>
            <a:ext cx="292608" cy="292608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" y="594817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1143000" y="588416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إثبات أن April دخل بالـRefresh فقط.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75488" y="6364224"/>
            <a:ext cx="5907024" cy="2450592"/>
          </a:xfrm>
          <a:prstGeom prst="roundRect">
            <a:avLst>
              <a:gd name="adj" fmla="val 5224"/>
            </a:avLst>
          </a:prstGeom>
          <a:solidFill>
            <a:srgbClr val="12161A"/>
          </a:solidFill>
          <a:ln w="8890">
            <a:solidFill>
              <a:srgbClr val="2A2D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3232" y="665683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099999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TRAINER SHOULD VERIFY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731520" y="7086600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1520" y="71551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1143000" y="7091172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8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كل روابط الموقع تعمل من جهاز آخر وليس من cache جهازك.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731520" y="7470648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1520" y="753922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1143000" y="7475220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8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الـZIPs تنزل وتفتح بدون missing files.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731520" y="7854696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31520" y="792327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1143000" y="7859268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8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الـWeb sources تفتح علناً بدون Login.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731520" y="8238744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1520" y="830732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1143000" y="8243316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8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April proof قابل للتكرار أمام المجموعة.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731520" y="8622792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31520" y="869137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1143000" y="8627364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80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لا يوجد أي ملف trainee يحتاج الوصول إلى old/.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475488" y="9107424"/>
            <a:ext cx="5907024" cy="1627632"/>
          </a:xfrm>
          <a:prstGeom prst="roundRect">
            <a:avLst>
              <a:gd name="adj" fmla="val 7865"/>
            </a:avLst>
          </a:prstGeom>
          <a:solidFill>
            <a:srgbClr val="171420"/>
          </a:solidFill>
          <a:ln w="8890">
            <a:solidFill>
              <a:srgbClr val="4B426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13232" y="94000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695C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الخطوة التالية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713232" y="9820656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02 STARTS WITH MODEL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713232" y="1008583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 vs Dimension • Grain • Relationships • DAX</a:t>
            </a:r>
            <a:endParaRPr lang="en-US" sz="720" dirty="0"/>
          </a:p>
        </p:txBody>
      </p:sp>
      <p:sp>
        <p:nvSpPr>
          <p:cNvPr id="108" name="Text 106"/>
          <p:cNvSpPr/>
          <p:nvPr/>
        </p:nvSpPr>
        <p:spPr>
          <a:xfrm>
            <a:off x="713232" y="103784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10" b="1" dirty="0">
                <a:solidFill>
                  <a:srgbClr val="F5F7F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لا تبني Day 4 قبل التأكد أن Pipeline الأسبوع الأول موثوقة.</a:t>
            </a:r>
            <a:endParaRPr lang="en-US" sz="810" dirty="0"/>
          </a:p>
        </p:txBody>
      </p:sp>
      <p:sp>
        <p:nvSpPr>
          <p:cNvPr id="109" name="Shape 107"/>
          <p:cNvSpPr/>
          <p:nvPr/>
        </p:nvSpPr>
        <p:spPr>
          <a:xfrm>
            <a:off x="2212848" y="10991088"/>
            <a:ext cx="2423160" cy="438912"/>
          </a:xfrm>
          <a:prstGeom prst="roundRect">
            <a:avLst>
              <a:gd name="adj" fmla="val 29167"/>
            </a:avLst>
          </a:prstGeom>
          <a:solidFill>
            <a:srgbClr val="F2C811"/>
          </a:solidFill>
          <a:ln w="8890">
            <a:solidFill>
              <a:srgbClr val="F2C81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304288" y="1111910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TRAINER HUB</a:t>
            </a:r>
            <a:endParaRPr lang="en-US" sz="700" dirty="0"/>
          </a:p>
        </p:txBody>
      </p:sp>
      <p:sp>
        <p:nvSpPr>
          <p:cNvPr id="111" name="Shape 109">
            <a:hlinkClick r:id="rId1" tooltip=""/>
          </p:cNvPr>
          <p:cNvSpPr/>
          <p:nvPr/>
        </p:nvSpPr>
        <p:spPr>
          <a:xfrm>
            <a:off x="2212848" y="10991088"/>
            <a:ext cx="242316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X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Specialist — Week 1 Trainer Playbook</dc:title>
  <dc:subject>Power BI Specialist — Week 1 Trainer Playbook</dc:subject>
  <dc:creator>X Academy — Basel Ghanem</dc:creator>
  <cp:lastModifiedBy>X Academy — Basel Ghanem</cp:lastModifiedBy>
  <cp:revision>1</cp:revision>
  <dcterms:created xsi:type="dcterms:W3CDTF">2026-09-19T22:14:25Z</dcterms:created>
  <dcterms:modified xsi:type="dcterms:W3CDTF">2026-09-19T22:14:25Z</dcterms:modified>
</cp:coreProperties>
</file>